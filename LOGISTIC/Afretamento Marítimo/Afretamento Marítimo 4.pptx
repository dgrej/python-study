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Estilo com Tema 1 - Ênfase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Estilo com Tema 1 - Ênfase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186C158E-4353-4D85-88DF-CF2849306630}"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616D6D1-095E-4470-BA23-0C3E72EAB30C}"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186C158E-4353-4D85-88DF-CF2849306630}"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616D6D1-095E-4470-BA23-0C3E72EAB30C}"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p:cNvSpPr>
            <a:spLocks noGrp="1"/>
          </p:cNvSpPr>
          <p:nvPr>
            <p:ph type="dt" sz="half" idx="10"/>
          </p:nvPr>
        </p:nvSpPr>
        <p:spPr/>
        <p:txBody>
          <a:bodyPr/>
          <a:lstStyle/>
          <a:p>
            <a:fld id="{186C158E-4353-4D85-88DF-CF2849306630}"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616D6D1-095E-4470-BA23-0C3E72EAB30C}"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186C158E-4353-4D85-88DF-CF2849306630}" type="datetimeFigureOut">
              <a:rPr lang="pt-BR" smtClean="0"/>
              <a:pPr/>
              <a:t>20/04/2020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616D6D1-095E-4470-BA23-0C3E72EAB30C}"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186C158E-4353-4D85-88DF-CF2849306630}" type="datetimeFigureOut">
              <a:rPr lang="pt-BR" smtClean="0"/>
              <a:pPr/>
              <a:t>20/04/2020</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616D6D1-095E-4470-BA23-0C3E72EAB30C}"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2"/>
          <p:cNvSpPr>
            <a:spLocks noGrp="1"/>
          </p:cNvSpPr>
          <p:nvPr>
            <p:ph type="dt" sz="half" idx="10"/>
          </p:nvPr>
        </p:nvSpPr>
        <p:spPr/>
        <p:txBody>
          <a:bodyPr/>
          <a:lstStyle/>
          <a:p>
            <a:fld id="{186C158E-4353-4D85-88DF-CF2849306630}" type="datetimeFigureOut">
              <a:rPr lang="pt-BR" smtClean="0"/>
              <a:pPr/>
              <a:t>20/04/2020</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7616D6D1-095E-4470-BA23-0C3E72EAB30C}"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86C158E-4353-4D85-88DF-CF2849306630}" type="datetimeFigureOut">
              <a:rPr lang="pt-BR" smtClean="0"/>
              <a:pPr/>
              <a:t>20/04/2020</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7616D6D1-095E-4470-BA23-0C3E72EAB30C}"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186C158E-4353-4D85-88DF-CF2849306630}" type="datetimeFigureOut">
              <a:rPr lang="pt-BR" smtClean="0"/>
              <a:pPr/>
              <a:t>20/04/2020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616D6D1-095E-4470-BA23-0C3E72EAB30C}"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186C158E-4353-4D85-88DF-CF2849306630}" type="datetimeFigureOut">
              <a:rPr lang="pt-BR" smtClean="0"/>
              <a:pPr/>
              <a:t>20/04/2020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616D6D1-095E-4470-BA23-0C3E72EAB30C}"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186C158E-4353-4D85-88DF-CF2849306630}"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616D6D1-095E-4470-BA23-0C3E72EAB30C}"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186C158E-4353-4D85-88DF-CF2849306630}" type="datetimeFigureOut">
              <a:rPr lang="pt-BR" smtClean="0"/>
              <a:pPr/>
              <a:t>20/04/2020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616D6D1-095E-4470-BA23-0C3E72EAB30C}"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6C158E-4353-4D85-88DF-CF2849306630}" type="datetimeFigureOut">
              <a:rPr lang="pt-BR" smtClean="0"/>
              <a:pPr/>
              <a:t>20/04/2020</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16D6D1-095E-4470-BA23-0C3E72EAB30C}" type="slidenum">
              <a:rPr lang="pt-BR" smtClean="0"/>
              <a:pPr/>
              <a:t>‹nº›</a:t>
            </a:fld>
            <a:endParaRPr lang="pt-B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a:t>Afretamento Marítimo</a:t>
            </a:r>
          </a:p>
        </p:txBody>
      </p:sp>
      <p:sp>
        <p:nvSpPr>
          <p:cNvPr id="3" name="Subtítulo 2"/>
          <p:cNvSpPr>
            <a:spLocks noGrp="1"/>
          </p:cNvSpPr>
          <p:nvPr>
            <p:ph type="subTitle" idx="1"/>
          </p:nvPr>
        </p:nvSpPr>
        <p:spPr>
          <a:xfrm>
            <a:off x="1357290" y="5357826"/>
            <a:ext cx="6400800" cy="714380"/>
          </a:xfrm>
        </p:spPr>
        <p:txBody>
          <a:bodyPr>
            <a:normAutofit fontScale="70000" lnSpcReduction="20000"/>
          </a:bodyPr>
          <a:lstStyle/>
          <a:p>
            <a:r>
              <a:rPr lang="pt-BR" i="1" dirty="0"/>
              <a:t>Aula 4</a:t>
            </a:r>
          </a:p>
          <a:p>
            <a:pPr lvl="0"/>
            <a:r>
              <a:rPr lang="pt-BR" dirty="0"/>
              <a:t>Afretamento por tempo (Time Charter)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normAutofit/>
          </a:bodyPr>
          <a:lstStyle/>
          <a:p>
            <a:pPr lvl="0"/>
            <a:r>
              <a:rPr lang="pt-BR" sz="3000" dirty="0"/>
              <a:t>Afretamento por tempo (Time Charter)</a:t>
            </a:r>
          </a:p>
        </p:txBody>
      </p:sp>
      <p:sp>
        <p:nvSpPr>
          <p:cNvPr id="5" name="Espaço Reservado para Conteúdo 4"/>
          <p:cNvSpPr>
            <a:spLocks noGrp="1"/>
          </p:cNvSpPr>
          <p:nvPr>
            <p:ph idx="1"/>
          </p:nvPr>
        </p:nvSpPr>
        <p:spPr>
          <a:xfrm>
            <a:off x="457200" y="1600201"/>
            <a:ext cx="8229600" cy="2900369"/>
          </a:xfrm>
        </p:spPr>
        <p:txBody>
          <a:bodyPr>
            <a:normAutofit fontScale="70000" lnSpcReduction="20000"/>
          </a:bodyPr>
          <a:lstStyle/>
          <a:p>
            <a:r>
              <a:rPr lang="pt-BR" dirty="0"/>
              <a:t>Semelhante ao afretamento por viagem, com a diferença de que o contrato de afretamento é estabelecido não por uma ou múltiplas viagens, mas por um tempo determinado.</a:t>
            </a:r>
          </a:p>
          <a:p>
            <a:endParaRPr lang="pt-BR" b="1" dirty="0"/>
          </a:p>
          <a:p>
            <a:r>
              <a:rPr lang="pt-BR" dirty="0"/>
              <a:t>Nesse tipo de afretamento, que pode durar por períodos curtos de alguns meses a alguns anos, ou até mesmo por toda a vida útil do navio, o fretador continua responsável pela navegação e armação do navio (gestão operacional).</a:t>
            </a:r>
            <a:endParaRPr lang="pt-BR" b="1" dirty="0"/>
          </a:p>
          <a:p>
            <a:endParaRPr lang="pt-BR" dirty="0"/>
          </a:p>
        </p:txBody>
      </p:sp>
      <p:pic>
        <p:nvPicPr>
          <p:cNvPr id="16386" name="Picture 2" descr="http://1.bp.blogspot.com/_vhndxhfuiC4/SnBaQrS41HI/AAAAAAAABB8/u66hawGao-M/s400/large_01risley1_ship.jpg"/>
          <p:cNvPicPr>
            <a:picLocks noChangeAspect="1" noChangeArrowheads="1"/>
          </p:cNvPicPr>
          <p:nvPr/>
        </p:nvPicPr>
        <p:blipFill>
          <a:blip r:embed="rId2" cstate="print"/>
          <a:srcRect/>
          <a:stretch>
            <a:fillRect/>
          </a:stretch>
        </p:blipFill>
        <p:spPr bwMode="auto">
          <a:xfrm>
            <a:off x="2571736" y="4071942"/>
            <a:ext cx="3810000" cy="2524126"/>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Afretamento por tempo (Time Charter)</a:t>
            </a:r>
          </a:p>
        </p:txBody>
      </p:sp>
      <p:sp>
        <p:nvSpPr>
          <p:cNvPr id="3" name="Espaço Reservado para Conteúdo 2"/>
          <p:cNvSpPr>
            <a:spLocks noGrp="1"/>
          </p:cNvSpPr>
          <p:nvPr>
            <p:ph idx="1"/>
          </p:nvPr>
        </p:nvSpPr>
        <p:spPr>
          <a:xfrm>
            <a:off x="457200" y="1600201"/>
            <a:ext cx="8229600" cy="2900369"/>
          </a:xfrm>
        </p:spPr>
        <p:txBody>
          <a:bodyPr>
            <a:normAutofit fontScale="70000" lnSpcReduction="20000"/>
          </a:bodyPr>
          <a:lstStyle/>
          <a:p>
            <a:r>
              <a:rPr lang="pt-BR" dirty="0"/>
              <a:t>O afretador fica responsável pela gestão comercial do navio, estabelecendo os clientes, os portos, e inclusive as particularidades operacionais, que deverão ser informadas ao fretador para providencias de navegação.</a:t>
            </a:r>
          </a:p>
          <a:p>
            <a:endParaRPr lang="pt-BR" b="1" dirty="0"/>
          </a:p>
          <a:p>
            <a:r>
              <a:rPr lang="pt-BR" dirty="0"/>
              <a:t>Ocorre em geral entre um armador especialista em navegação e com pouca experiência na gestão comercial. É como se dois armadores dividissem a gestão do navio, sendo um especialista na gestão comercial e outro na gestão operacional.</a:t>
            </a:r>
            <a:endParaRPr lang="pt-BR" b="1" dirty="0"/>
          </a:p>
          <a:p>
            <a:endParaRPr lang="pt-BR" dirty="0"/>
          </a:p>
        </p:txBody>
      </p:sp>
      <p:pic>
        <p:nvPicPr>
          <p:cNvPr id="4098" name="Picture 2" descr="https://lh3.googleusercontent.com/-TasZWmJVT7Y/TW-LlImjJlI/AAAAAAAAEsY/EKZibyRPGew/suezmaxcapvictor.jpg"/>
          <p:cNvPicPr>
            <a:picLocks noChangeAspect="1" noChangeArrowheads="1"/>
          </p:cNvPicPr>
          <p:nvPr/>
        </p:nvPicPr>
        <p:blipFill>
          <a:blip r:embed="rId2" cstate="print"/>
          <a:srcRect/>
          <a:stretch>
            <a:fillRect/>
          </a:stretch>
        </p:blipFill>
        <p:spPr bwMode="auto">
          <a:xfrm>
            <a:off x="2214546" y="4429132"/>
            <a:ext cx="4876800" cy="1843072"/>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Afretamento por tempo (Time Charter)</a:t>
            </a:r>
          </a:p>
        </p:txBody>
      </p:sp>
      <p:sp>
        <p:nvSpPr>
          <p:cNvPr id="3" name="Espaço Reservado para Conteúdo 2"/>
          <p:cNvSpPr>
            <a:spLocks noGrp="1"/>
          </p:cNvSpPr>
          <p:nvPr>
            <p:ph idx="1"/>
          </p:nvPr>
        </p:nvSpPr>
        <p:spPr/>
        <p:txBody>
          <a:bodyPr>
            <a:normAutofit fontScale="70000" lnSpcReduction="20000"/>
          </a:bodyPr>
          <a:lstStyle/>
          <a:p>
            <a:r>
              <a:rPr lang="pt-BR" dirty="0"/>
              <a:t>Também é comum esse tipo de afretamento quando um cliente quer ter liberdade total na gestão comercial do navio, sem ter que ficar preso a uma quantidade estipulada de viagens. Porém, é importante ressaltar que o fretador mantém o controle do navio, inclusive sendo responsável pela emissão do contrato de transporte (Conhecimento de Transporte).</a:t>
            </a:r>
          </a:p>
          <a:p>
            <a:endParaRPr lang="pt-BR" b="1" dirty="0"/>
          </a:p>
          <a:p>
            <a:r>
              <a:rPr lang="pt-BR" dirty="0"/>
              <a:t>Os valores cobrados são pelo tipo e porte do navio e pelo valor da gestão operacional. Ou seja, quando o navio está com problemas que exijam reparos (inativo para obras, docagem ou outro motivo que não seja responsabilidade do afretador, inclusive defeitos que acarretem redução na velocidade ou aumento do consumo do navio) o afretador terá um abatimento no valor pago (chamado </a:t>
            </a:r>
            <a:r>
              <a:rPr lang="pt-BR" dirty="0" err="1"/>
              <a:t>off-hire</a:t>
            </a:r>
            <a:r>
              <a:rPr lang="pt-BR" dirty="0"/>
              <a:t>), o que é certamente uma vantagem.</a:t>
            </a:r>
            <a:endParaRPr lang="pt-BR" b="1" dirty="0"/>
          </a:p>
          <a:p>
            <a:endParaRPr lang="pt-B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Afretamento por tempo (Time Charter)</a:t>
            </a:r>
          </a:p>
        </p:txBody>
      </p:sp>
      <p:sp>
        <p:nvSpPr>
          <p:cNvPr id="3" name="Espaço Reservado para Conteúdo 2"/>
          <p:cNvSpPr>
            <a:spLocks noGrp="1"/>
          </p:cNvSpPr>
          <p:nvPr>
            <p:ph idx="1"/>
          </p:nvPr>
        </p:nvSpPr>
        <p:spPr/>
        <p:txBody>
          <a:bodyPr>
            <a:normAutofit fontScale="70000" lnSpcReduction="20000"/>
          </a:bodyPr>
          <a:lstStyle/>
          <a:p>
            <a:r>
              <a:rPr lang="pt-BR" dirty="0"/>
              <a:t>Uma vantagem ao afretador, é que, uma vez que o navio está a disposição do afretador por um tempo determinado, o fretador não tem motivos para cobrar multas por atraso ou pagar prêmios por presteza na sua utilização.</a:t>
            </a:r>
          </a:p>
          <a:p>
            <a:endParaRPr lang="pt-BR" b="1" dirty="0"/>
          </a:p>
          <a:p>
            <a:r>
              <a:rPr lang="pt-BR" dirty="0"/>
              <a:t>Para o fretador, claro, a vantagem está na garantia da utilização comercial do seu navio por um tempo pré-estabelecido em que não terá que ficar buscando clientes e evitará o desgaste da negociação comercial a cada contratação. Além dessa vantagem, o fretador, neste caso, ainda tira lucros do exercício da sua gestão operacional.</a:t>
            </a:r>
          </a:p>
          <a:p>
            <a:endParaRPr lang="pt-BR" b="1" dirty="0"/>
          </a:p>
          <a:p>
            <a:r>
              <a:rPr lang="pt-BR" dirty="0"/>
              <a:t>A tabela 1, a seguir, demonstra as responsabilidades geralmente estabelecidas nos diversos tipos de afretamento vistos.</a:t>
            </a:r>
            <a:endParaRPr lang="pt-BR"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Afretamento por tempo (Time Charter)</a:t>
            </a:r>
          </a:p>
        </p:txBody>
      </p:sp>
      <p:graphicFrame>
        <p:nvGraphicFramePr>
          <p:cNvPr id="4" name="Tabela 3"/>
          <p:cNvGraphicFramePr>
            <a:graphicFrameLocks noGrp="1"/>
          </p:cNvGraphicFramePr>
          <p:nvPr/>
        </p:nvGraphicFramePr>
        <p:xfrm>
          <a:off x="1428728" y="2357431"/>
          <a:ext cx="6357981" cy="2071701"/>
        </p:xfrm>
        <a:graphic>
          <a:graphicData uri="http://schemas.openxmlformats.org/drawingml/2006/table">
            <a:tbl>
              <a:tblPr>
                <a:tableStyleId>{775DCB02-9BB8-47FD-8907-85C794F793BA}</a:tableStyleId>
              </a:tblPr>
              <a:tblGrid>
                <a:gridCol w="1589007">
                  <a:extLst>
                    <a:ext uri="{9D8B030D-6E8A-4147-A177-3AD203B41FA5}">
                      <a16:colId xmlns:a16="http://schemas.microsoft.com/office/drawing/2014/main" val="20000"/>
                    </a:ext>
                  </a:extLst>
                </a:gridCol>
                <a:gridCol w="1589658">
                  <a:extLst>
                    <a:ext uri="{9D8B030D-6E8A-4147-A177-3AD203B41FA5}">
                      <a16:colId xmlns:a16="http://schemas.microsoft.com/office/drawing/2014/main" val="20001"/>
                    </a:ext>
                  </a:extLst>
                </a:gridCol>
                <a:gridCol w="1589658">
                  <a:extLst>
                    <a:ext uri="{9D8B030D-6E8A-4147-A177-3AD203B41FA5}">
                      <a16:colId xmlns:a16="http://schemas.microsoft.com/office/drawing/2014/main" val="20002"/>
                    </a:ext>
                  </a:extLst>
                </a:gridCol>
                <a:gridCol w="1589658">
                  <a:extLst>
                    <a:ext uri="{9D8B030D-6E8A-4147-A177-3AD203B41FA5}">
                      <a16:colId xmlns:a16="http://schemas.microsoft.com/office/drawing/2014/main" val="20003"/>
                    </a:ext>
                  </a:extLst>
                </a:gridCol>
              </a:tblGrid>
              <a:tr h="414340">
                <a:tc rowSpan="2">
                  <a:txBody>
                    <a:bodyPr/>
                    <a:lstStyle/>
                    <a:p>
                      <a:pPr algn="just">
                        <a:lnSpc>
                          <a:spcPct val="150000"/>
                        </a:lnSpc>
                        <a:spcAft>
                          <a:spcPts val="0"/>
                        </a:spcAft>
                      </a:pPr>
                      <a:r>
                        <a:rPr lang="pt-BR" sz="1500" dirty="0"/>
                        <a:t>Tipos de Gestão</a:t>
                      </a:r>
                      <a:endParaRPr lang="pt-BR" sz="1500" b="1" dirty="0">
                        <a:solidFill>
                          <a:schemeClr val="tx1"/>
                        </a:solidFill>
                        <a:latin typeface="Arial"/>
                        <a:ea typeface="Times New Roman"/>
                      </a:endParaRPr>
                    </a:p>
                  </a:txBody>
                  <a:tcPr marL="67435" marR="67435" marT="0" marB="0"/>
                </a:tc>
                <a:tc gridSpan="3">
                  <a:txBody>
                    <a:bodyPr/>
                    <a:lstStyle/>
                    <a:p>
                      <a:pPr algn="ctr">
                        <a:lnSpc>
                          <a:spcPct val="150000"/>
                        </a:lnSpc>
                        <a:spcAft>
                          <a:spcPts val="0"/>
                        </a:spcAft>
                      </a:pPr>
                      <a:r>
                        <a:rPr lang="pt-BR" sz="1500"/>
                        <a:t>Tipos de Afretamento</a:t>
                      </a:r>
                      <a:endParaRPr lang="pt-BR" sz="1500" b="1">
                        <a:solidFill>
                          <a:schemeClr val="tx1"/>
                        </a:solidFill>
                        <a:latin typeface="Arial"/>
                        <a:ea typeface="Times New Roman"/>
                      </a:endParaRPr>
                    </a:p>
                  </a:txBody>
                  <a:tcPr marL="67435" marR="67435" marT="0" marB="0"/>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414340">
                <a:tc vMerge="1">
                  <a:txBody>
                    <a:bodyPr/>
                    <a:lstStyle/>
                    <a:p>
                      <a:endParaRPr lang="pt-BR"/>
                    </a:p>
                  </a:txBody>
                  <a:tcPr/>
                </a:tc>
                <a:tc>
                  <a:txBody>
                    <a:bodyPr/>
                    <a:lstStyle/>
                    <a:p>
                      <a:pPr algn="just">
                        <a:lnSpc>
                          <a:spcPct val="150000"/>
                        </a:lnSpc>
                        <a:spcAft>
                          <a:spcPts val="0"/>
                        </a:spcAft>
                      </a:pPr>
                      <a:r>
                        <a:rPr lang="pt-BR" sz="1500" dirty="0" err="1"/>
                        <a:t>Bare</a:t>
                      </a:r>
                      <a:r>
                        <a:rPr lang="pt-BR" sz="1500" dirty="0"/>
                        <a:t> </a:t>
                      </a:r>
                      <a:r>
                        <a:rPr lang="pt-BR" sz="1500" dirty="0" err="1"/>
                        <a:t>Boat</a:t>
                      </a:r>
                      <a:endParaRPr lang="pt-BR" sz="1500" b="1" dirty="0">
                        <a:solidFill>
                          <a:schemeClr val="tx1"/>
                        </a:solidFill>
                        <a:latin typeface="Arial"/>
                        <a:ea typeface="Times New Roman"/>
                      </a:endParaRPr>
                    </a:p>
                  </a:txBody>
                  <a:tcPr marL="67435" marR="67435" marT="0" marB="0"/>
                </a:tc>
                <a:tc>
                  <a:txBody>
                    <a:bodyPr/>
                    <a:lstStyle/>
                    <a:p>
                      <a:pPr algn="just">
                        <a:lnSpc>
                          <a:spcPct val="150000"/>
                        </a:lnSpc>
                        <a:spcAft>
                          <a:spcPts val="0"/>
                        </a:spcAft>
                      </a:pPr>
                      <a:r>
                        <a:rPr lang="pt-BR" sz="1500"/>
                        <a:t>Time Charter</a:t>
                      </a:r>
                      <a:endParaRPr lang="pt-BR" sz="1500" b="1">
                        <a:solidFill>
                          <a:schemeClr val="tx1"/>
                        </a:solidFill>
                        <a:latin typeface="Arial"/>
                        <a:ea typeface="Times New Roman"/>
                      </a:endParaRPr>
                    </a:p>
                  </a:txBody>
                  <a:tcPr marL="67435" marR="67435" marT="0" marB="0"/>
                </a:tc>
                <a:tc>
                  <a:txBody>
                    <a:bodyPr/>
                    <a:lstStyle/>
                    <a:p>
                      <a:pPr algn="just">
                        <a:lnSpc>
                          <a:spcPct val="150000"/>
                        </a:lnSpc>
                        <a:spcAft>
                          <a:spcPts val="0"/>
                        </a:spcAft>
                      </a:pPr>
                      <a:r>
                        <a:rPr lang="pt-BR" sz="1500"/>
                        <a:t>Voyage Charter</a:t>
                      </a:r>
                      <a:endParaRPr lang="pt-BR" sz="1500" b="1">
                        <a:solidFill>
                          <a:schemeClr val="tx1"/>
                        </a:solidFill>
                        <a:latin typeface="Arial"/>
                        <a:ea typeface="Times New Roman"/>
                      </a:endParaRPr>
                    </a:p>
                  </a:txBody>
                  <a:tcPr marL="67435" marR="67435" marT="0" marB="0"/>
                </a:tc>
                <a:extLst>
                  <a:ext uri="{0D108BD9-81ED-4DB2-BD59-A6C34878D82A}">
                    <a16:rowId xmlns:a16="http://schemas.microsoft.com/office/drawing/2014/main" val="10001"/>
                  </a:ext>
                </a:extLst>
              </a:tr>
              <a:tr h="414340">
                <a:tc>
                  <a:txBody>
                    <a:bodyPr/>
                    <a:lstStyle/>
                    <a:p>
                      <a:pPr algn="just">
                        <a:lnSpc>
                          <a:spcPct val="150000"/>
                        </a:lnSpc>
                        <a:spcAft>
                          <a:spcPts val="0"/>
                        </a:spcAft>
                      </a:pPr>
                      <a:r>
                        <a:rPr lang="pt-BR" sz="1500"/>
                        <a:t>Comercial</a:t>
                      </a:r>
                      <a:endParaRPr lang="pt-BR" sz="1500" b="1">
                        <a:solidFill>
                          <a:schemeClr val="tx1"/>
                        </a:solidFill>
                        <a:latin typeface="Arial"/>
                        <a:ea typeface="Times New Roman"/>
                      </a:endParaRPr>
                    </a:p>
                  </a:txBody>
                  <a:tcPr marL="67435" marR="67435" marT="0" marB="0"/>
                </a:tc>
                <a:tc>
                  <a:txBody>
                    <a:bodyPr/>
                    <a:lstStyle/>
                    <a:p>
                      <a:pPr algn="just">
                        <a:lnSpc>
                          <a:spcPct val="150000"/>
                        </a:lnSpc>
                        <a:spcAft>
                          <a:spcPts val="0"/>
                        </a:spcAft>
                      </a:pPr>
                      <a:r>
                        <a:rPr lang="pt-BR" sz="1500"/>
                        <a:t>Afretador</a:t>
                      </a:r>
                      <a:endParaRPr lang="pt-BR" sz="1500" b="1">
                        <a:solidFill>
                          <a:schemeClr val="tx1"/>
                        </a:solidFill>
                        <a:latin typeface="Arial"/>
                        <a:ea typeface="Times New Roman"/>
                      </a:endParaRPr>
                    </a:p>
                  </a:txBody>
                  <a:tcPr marL="67435" marR="67435" marT="0" marB="0"/>
                </a:tc>
                <a:tc>
                  <a:txBody>
                    <a:bodyPr/>
                    <a:lstStyle/>
                    <a:p>
                      <a:pPr algn="just">
                        <a:lnSpc>
                          <a:spcPct val="150000"/>
                        </a:lnSpc>
                        <a:spcAft>
                          <a:spcPts val="0"/>
                        </a:spcAft>
                      </a:pPr>
                      <a:r>
                        <a:rPr lang="pt-BR" sz="1500" dirty="0"/>
                        <a:t>Afretador</a:t>
                      </a:r>
                      <a:endParaRPr lang="pt-BR" sz="1500" b="1" dirty="0">
                        <a:solidFill>
                          <a:schemeClr val="tx1"/>
                        </a:solidFill>
                        <a:latin typeface="Arial"/>
                        <a:ea typeface="Times New Roman"/>
                      </a:endParaRPr>
                    </a:p>
                  </a:txBody>
                  <a:tcPr marL="67435" marR="67435" marT="0" marB="0"/>
                </a:tc>
                <a:tc>
                  <a:txBody>
                    <a:bodyPr/>
                    <a:lstStyle/>
                    <a:p>
                      <a:pPr algn="just">
                        <a:lnSpc>
                          <a:spcPct val="150000"/>
                        </a:lnSpc>
                        <a:spcAft>
                          <a:spcPts val="0"/>
                        </a:spcAft>
                      </a:pPr>
                      <a:r>
                        <a:rPr lang="pt-BR" sz="1500"/>
                        <a:t>Fretador</a:t>
                      </a:r>
                      <a:endParaRPr lang="pt-BR" sz="1500" b="1">
                        <a:solidFill>
                          <a:schemeClr val="tx1"/>
                        </a:solidFill>
                        <a:latin typeface="Arial"/>
                        <a:ea typeface="Times New Roman"/>
                      </a:endParaRPr>
                    </a:p>
                  </a:txBody>
                  <a:tcPr marL="67435" marR="67435" marT="0" marB="0"/>
                </a:tc>
                <a:extLst>
                  <a:ext uri="{0D108BD9-81ED-4DB2-BD59-A6C34878D82A}">
                    <a16:rowId xmlns:a16="http://schemas.microsoft.com/office/drawing/2014/main" val="10002"/>
                  </a:ext>
                </a:extLst>
              </a:tr>
              <a:tr h="828681">
                <a:tc>
                  <a:txBody>
                    <a:bodyPr/>
                    <a:lstStyle/>
                    <a:p>
                      <a:pPr algn="just">
                        <a:lnSpc>
                          <a:spcPct val="150000"/>
                        </a:lnSpc>
                        <a:spcAft>
                          <a:spcPts val="0"/>
                        </a:spcAft>
                      </a:pPr>
                      <a:r>
                        <a:rPr lang="pt-BR" sz="1500"/>
                        <a:t>Operacional (Nautica)</a:t>
                      </a:r>
                      <a:endParaRPr lang="pt-BR" sz="1500" b="1">
                        <a:solidFill>
                          <a:schemeClr val="tx1"/>
                        </a:solidFill>
                        <a:latin typeface="Arial"/>
                        <a:ea typeface="Times New Roman"/>
                      </a:endParaRPr>
                    </a:p>
                  </a:txBody>
                  <a:tcPr marL="67435" marR="67435" marT="0" marB="0"/>
                </a:tc>
                <a:tc>
                  <a:txBody>
                    <a:bodyPr/>
                    <a:lstStyle/>
                    <a:p>
                      <a:pPr algn="just">
                        <a:lnSpc>
                          <a:spcPct val="150000"/>
                        </a:lnSpc>
                        <a:spcAft>
                          <a:spcPts val="0"/>
                        </a:spcAft>
                      </a:pPr>
                      <a:r>
                        <a:rPr lang="pt-BR" sz="1500"/>
                        <a:t>Afretador</a:t>
                      </a:r>
                      <a:endParaRPr lang="pt-BR" sz="1500" b="1">
                        <a:solidFill>
                          <a:schemeClr val="tx1"/>
                        </a:solidFill>
                        <a:latin typeface="Arial"/>
                        <a:ea typeface="Times New Roman"/>
                      </a:endParaRPr>
                    </a:p>
                  </a:txBody>
                  <a:tcPr marL="67435" marR="67435" marT="0" marB="0"/>
                </a:tc>
                <a:tc>
                  <a:txBody>
                    <a:bodyPr/>
                    <a:lstStyle/>
                    <a:p>
                      <a:pPr algn="just">
                        <a:lnSpc>
                          <a:spcPct val="150000"/>
                        </a:lnSpc>
                        <a:spcAft>
                          <a:spcPts val="0"/>
                        </a:spcAft>
                      </a:pPr>
                      <a:r>
                        <a:rPr lang="pt-BR" sz="1500" dirty="0"/>
                        <a:t>Fretador</a:t>
                      </a:r>
                      <a:endParaRPr lang="pt-BR" sz="1500" b="1" dirty="0">
                        <a:solidFill>
                          <a:schemeClr val="tx1"/>
                        </a:solidFill>
                        <a:latin typeface="Arial"/>
                        <a:ea typeface="Times New Roman"/>
                      </a:endParaRPr>
                    </a:p>
                  </a:txBody>
                  <a:tcPr marL="67435" marR="67435" marT="0" marB="0"/>
                </a:tc>
                <a:tc>
                  <a:txBody>
                    <a:bodyPr/>
                    <a:lstStyle/>
                    <a:p>
                      <a:pPr algn="just">
                        <a:lnSpc>
                          <a:spcPct val="150000"/>
                        </a:lnSpc>
                        <a:spcAft>
                          <a:spcPts val="0"/>
                        </a:spcAft>
                      </a:pPr>
                      <a:r>
                        <a:rPr lang="pt-BR" sz="1500" dirty="0"/>
                        <a:t>Fretador</a:t>
                      </a:r>
                      <a:endParaRPr lang="pt-BR" sz="1500" b="1" dirty="0">
                        <a:solidFill>
                          <a:schemeClr val="tx1"/>
                        </a:solidFill>
                        <a:latin typeface="Arial"/>
                        <a:ea typeface="Times New Roman"/>
                      </a:endParaRPr>
                    </a:p>
                  </a:txBody>
                  <a:tcPr marL="67435" marR="67435"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Afretamento por tempo (Time Charter)</a:t>
            </a:r>
          </a:p>
        </p:txBody>
      </p:sp>
      <p:sp>
        <p:nvSpPr>
          <p:cNvPr id="3" name="Espaço Reservado para Conteúdo 2"/>
          <p:cNvSpPr>
            <a:spLocks noGrp="1"/>
          </p:cNvSpPr>
          <p:nvPr>
            <p:ph idx="1"/>
          </p:nvPr>
        </p:nvSpPr>
        <p:spPr>
          <a:xfrm>
            <a:off x="457200" y="1600201"/>
            <a:ext cx="8229600" cy="3114683"/>
          </a:xfrm>
        </p:spPr>
        <p:txBody>
          <a:bodyPr>
            <a:normAutofit fontScale="70000" lnSpcReduction="20000"/>
          </a:bodyPr>
          <a:lstStyle/>
          <a:p>
            <a:r>
              <a:rPr lang="pt-BR" dirty="0"/>
              <a:t>Aqui, vale ressaltar que a Gestão Náutica ou Operacional é aquela relacionada à navegação, incluindo manutenção, conservação, aprovisionamento, administração da tripulação (RAPHAEL, 2003).</a:t>
            </a:r>
          </a:p>
          <a:p>
            <a:endParaRPr lang="pt-BR" b="1" dirty="0"/>
          </a:p>
          <a:p>
            <a:r>
              <a:rPr lang="pt-BR" dirty="0"/>
              <a:t>Já a Gestão Comercial é aquela relativa à venda de serviços de transporte, como o fechamento de contratos de prestação de serviços de transporte, formalidades de recebimento e entrega de carga, pagamento de intermediários na negociação, etc.</a:t>
            </a:r>
            <a:endParaRPr lang="pt-BR" b="1" dirty="0"/>
          </a:p>
          <a:p>
            <a:endParaRPr lang="pt-BR" dirty="0"/>
          </a:p>
        </p:txBody>
      </p:sp>
      <p:pic>
        <p:nvPicPr>
          <p:cNvPr id="22530" name="Picture 2" descr="http://www.arnaldotemporal.xpg.com.br/jpg/o_maior_navio_cargueiro_do_mundo/Emma015.jpg"/>
          <p:cNvPicPr>
            <a:picLocks noChangeAspect="1" noChangeArrowheads="1"/>
          </p:cNvPicPr>
          <p:nvPr/>
        </p:nvPicPr>
        <p:blipFill>
          <a:blip r:embed="rId2" cstate="print"/>
          <a:srcRect/>
          <a:stretch>
            <a:fillRect/>
          </a:stretch>
        </p:blipFill>
        <p:spPr bwMode="auto">
          <a:xfrm>
            <a:off x="2143108" y="4357694"/>
            <a:ext cx="4976777" cy="214314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Conclusão</a:t>
            </a:r>
          </a:p>
        </p:txBody>
      </p:sp>
      <p:sp>
        <p:nvSpPr>
          <p:cNvPr id="3" name="Espaço Reservado para Conteúdo 2"/>
          <p:cNvSpPr>
            <a:spLocks noGrp="1"/>
          </p:cNvSpPr>
          <p:nvPr>
            <p:ph idx="1"/>
          </p:nvPr>
        </p:nvSpPr>
        <p:spPr>
          <a:xfrm>
            <a:off x="457200" y="1385886"/>
            <a:ext cx="8229600" cy="4972072"/>
          </a:xfrm>
        </p:spPr>
        <p:txBody>
          <a:bodyPr>
            <a:normAutofit fontScale="55000" lnSpcReduction="20000"/>
          </a:bodyPr>
          <a:lstStyle/>
          <a:p>
            <a:r>
              <a:rPr lang="pt-BR" dirty="0"/>
              <a:t>Há autores que definem afretamento marítimo como a contratação do transporte marítimo, porém, a definição mais adequada é aquela que se refere ao “aluguel” de um navio completo.</a:t>
            </a:r>
          </a:p>
          <a:p>
            <a:endParaRPr lang="pt-BR" b="1" dirty="0"/>
          </a:p>
          <a:p>
            <a:r>
              <a:rPr lang="pt-BR" dirty="0"/>
              <a:t>	Há várias modalidades de afretamento, cada uma com suas vantagens e desvantagens, e dentro dessas modalidades é possível adequá-las à necessidade de cada cliente.</a:t>
            </a:r>
          </a:p>
          <a:p>
            <a:endParaRPr lang="pt-BR" b="1" dirty="0"/>
          </a:p>
          <a:p>
            <a:r>
              <a:rPr lang="pt-BR" dirty="0"/>
              <a:t>	Por exemplo, existem clientes que precisam “alugar” o navio, mas não possuem a expertise na gestão náutica e, portanto, desejam que o fretador se responsabilize por essa gestão.</a:t>
            </a:r>
          </a:p>
          <a:p>
            <a:endParaRPr lang="pt-BR" b="1" dirty="0"/>
          </a:p>
          <a:p>
            <a:r>
              <a:rPr lang="pt-BR" dirty="0"/>
              <a:t>	Há outros casos em que o afretador já é um armador e deseja tão somente ampliar sua capacidade de oferta de transporte. Nesse caso, o afretador recorre ao afretamento a casco </a:t>
            </a:r>
            <a:r>
              <a:rPr lang="pt-BR" dirty="0" err="1"/>
              <a:t>nú</a:t>
            </a:r>
            <a:r>
              <a:rPr lang="pt-BR" dirty="0"/>
              <a:t>.</a:t>
            </a:r>
          </a:p>
          <a:p>
            <a:endParaRPr lang="pt-BR" b="1" dirty="0"/>
          </a:p>
          <a:p>
            <a:r>
              <a:rPr lang="pt-BR" dirty="0"/>
              <a:t>	No próximo capítulo, veremos com mais detalhes o contrato de afretamento, a chamada Carta Partida e as regras básicas para a definição do frete a ser cobrado pelo </a:t>
            </a:r>
            <a:r>
              <a:rPr lang="pt-BR" dirty="0" err="1"/>
              <a:t>alguel</a:t>
            </a:r>
            <a:r>
              <a:rPr lang="pt-BR" dirty="0"/>
              <a:t> do navio.</a:t>
            </a:r>
            <a:endParaRPr lang="pt-BR" b="1" dirty="0"/>
          </a:p>
          <a:p>
            <a:endParaRPr lang="pt-B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Bibliografia</a:t>
            </a:r>
          </a:p>
        </p:txBody>
      </p:sp>
      <p:sp>
        <p:nvSpPr>
          <p:cNvPr id="3" name="Espaço Reservado para Conteúdo 2"/>
          <p:cNvSpPr>
            <a:spLocks noGrp="1"/>
          </p:cNvSpPr>
          <p:nvPr>
            <p:ph idx="1"/>
          </p:nvPr>
        </p:nvSpPr>
        <p:spPr/>
        <p:txBody>
          <a:bodyPr>
            <a:normAutofit fontScale="47500" lnSpcReduction="20000"/>
          </a:bodyPr>
          <a:lstStyle/>
          <a:p>
            <a:r>
              <a:rPr lang="pt-BR" sz="3600" dirty="0"/>
              <a:t>ANTAQ – Agência Nacional de Transportes </a:t>
            </a:r>
            <a:r>
              <a:rPr lang="pt-BR" sz="3600" dirty="0" err="1"/>
              <a:t>Aquaviários</a:t>
            </a:r>
            <a:r>
              <a:rPr lang="pt-BR" sz="3600" dirty="0"/>
              <a:t>. </a:t>
            </a:r>
            <a:r>
              <a:rPr lang="pt-BR" sz="3600" b="1" dirty="0"/>
              <a:t>Cartilha de Indicadores de Desempenho Operacional Portuário</a:t>
            </a:r>
            <a:r>
              <a:rPr lang="pt-BR" sz="3600" dirty="0"/>
              <a:t>. www.antaq.gov.br. 2004. Brasília-DF, Brasil.</a:t>
            </a:r>
          </a:p>
          <a:p>
            <a:r>
              <a:rPr lang="pt-BR" sz="3600" dirty="0"/>
              <a:t>BANCO DO BRASIL</a:t>
            </a:r>
            <a:r>
              <a:rPr lang="pt-BR" sz="3600" b="1" dirty="0"/>
              <a:t>. Cartilha de </a:t>
            </a:r>
            <a:r>
              <a:rPr lang="pt-BR" sz="3600" b="1" dirty="0" err="1"/>
              <a:t>Incoterms</a:t>
            </a:r>
            <a:r>
              <a:rPr lang="pt-BR" sz="3600" dirty="0"/>
              <a:t>. www.bancodobrasil.com.br. 2004. Brasília-DF, Brasil.</a:t>
            </a:r>
          </a:p>
          <a:p>
            <a:r>
              <a:rPr lang="pt-BR" sz="3600" dirty="0"/>
              <a:t>BUSTAMANTE, José Carlos. </a:t>
            </a:r>
            <a:r>
              <a:rPr lang="pt-BR" sz="3600" b="1" dirty="0"/>
              <a:t>Apostila para cursos de Engenharia de Transportes – IME</a:t>
            </a:r>
            <a:r>
              <a:rPr lang="pt-BR" sz="3600" dirty="0"/>
              <a:t>. Rio de Janeiro, 2001.</a:t>
            </a:r>
          </a:p>
          <a:p>
            <a:r>
              <a:rPr lang="pt-BR" sz="3600" dirty="0"/>
              <a:t>COIMBRA, Delfim B. </a:t>
            </a:r>
            <a:r>
              <a:rPr lang="pt-BR" sz="3600" b="1" dirty="0"/>
              <a:t>O Conhecimento de Carga no Transporte Marítimo</a:t>
            </a:r>
            <a:r>
              <a:rPr lang="pt-BR" sz="3600" dirty="0"/>
              <a:t>. Edições Aduaneiras. São Paulo, 2004.</a:t>
            </a:r>
          </a:p>
          <a:p>
            <a:r>
              <a:rPr lang="pt-BR" sz="3600" dirty="0"/>
              <a:t>FEMAR, Fundação de Estudos do Mar. </a:t>
            </a:r>
            <a:r>
              <a:rPr lang="pt-BR" sz="3600" b="1" dirty="0"/>
              <a:t>Agenciamento Marítimo</a:t>
            </a:r>
            <a:r>
              <a:rPr lang="pt-BR" sz="3600" dirty="0"/>
              <a:t>. Apostila elaborada pelo Dr. Fabio Gentil para a FEMAR para servir de livro texto para o Curso “Agenciamento Marítimo. São Paulo, 2009.</a:t>
            </a:r>
          </a:p>
          <a:p>
            <a:r>
              <a:rPr lang="pt-BR" sz="3600" dirty="0"/>
              <a:t>HANDABAKA, Alberto </a:t>
            </a:r>
            <a:r>
              <a:rPr lang="pt-BR" sz="3600" dirty="0" err="1"/>
              <a:t>Ruibal</a:t>
            </a:r>
            <a:r>
              <a:rPr lang="pt-BR" sz="3600" dirty="0"/>
              <a:t>. </a:t>
            </a:r>
            <a:r>
              <a:rPr lang="pt-BR" sz="3600" b="1" dirty="0"/>
              <a:t>Gestão da Distribuição Física Internacional</a:t>
            </a:r>
            <a:r>
              <a:rPr lang="pt-BR" sz="3600" dirty="0"/>
              <a:t>. Tradução: Eugenia </a:t>
            </a:r>
            <a:r>
              <a:rPr lang="pt-BR" sz="3600" dirty="0" err="1"/>
              <a:t>Flavian</a:t>
            </a:r>
            <a:r>
              <a:rPr lang="pt-BR" sz="3600" dirty="0"/>
              <a:t>. Editora </a:t>
            </a:r>
            <a:r>
              <a:rPr lang="pt-BR" sz="3600" dirty="0" err="1"/>
              <a:t>Maltese</a:t>
            </a:r>
            <a:r>
              <a:rPr lang="pt-BR" sz="3600" dirty="0"/>
              <a:t>. São Paulo, 1994.</a:t>
            </a:r>
          </a:p>
          <a:p>
            <a:r>
              <a:rPr lang="pt-BR" sz="3600" dirty="0"/>
              <a:t>KEEDI, Samir e Paulo C. de Mendonça. </a:t>
            </a:r>
            <a:r>
              <a:rPr lang="pt-BR" sz="3600" b="1" dirty="0"/>
              <a:t>Transportes e Seguros no Comércio Exterior</a:t>
            </a:r>
            <a:r>
              <a:rPr lang="pt-BR" sz="3600" dirty="0"/>
              <a:t>.: 2ª Edição, Edições Aduaneiras Ltda. São Paulo 2000.</a:t>
            </a:r>
          </a:p>
          <a:p>
            <a:r>
              <a:rPr lang="pt-BR" sz="3600" dirty="0"/>
              <a:t>KEEDI, Samir.  </a:t>
            </a:r>
            <a:r>
              <a:rPr lang="pt-BR" sz="3600" b="1" dirty="0"/>
              <a:t>Logística de Transporte Internacional</a:t>
            </a:r>
            <a:r>
              <a:rPr lang="pt-BR" sz="3600" dirty="0"/>
              <a:t>.  Edições </a:t>
            </a:r>
            <a:r>
              <a:rPr lang="pt-BR" sz="3600" dirty="0" err="1"/>
              <a:t>Aduneiras</a:t>
            </a:r>
            <a:r>
              <a:rPr lang="pt-BR" sz="3600" dirty="0"/>
              <a:t> Ltda. São Paulo, 2001.</a:t>
            </a:r>
          </a:p>
          <a:p>
            <a:r>
              <a:rPr lang="pt-BR" sz="3600" dirty="0"/>
              <a:t>KEEDI, Samir.  </a:t>
            </a:r>
            <a:r>
              <a:rPr lang="pt-BR" sz="3600" b="1" dirty="0"/>
              <a:t>Transportes </a:t>
            </a:r>
            <a:r>
              <a:rPr lang="pt-BR" sz="3600" b="1" dirty="0" err="1"/>
              <a:t>Unitização</a:t>
            </a:r>
            <a:r>
              <a:rPr lang="pt-BR" sz="3600" b="1" dirty="0"/>
              <a:t> e Seguros Internacionais de Carga</a:t>
            </a:r>
            <a:r>
              <a:rPr lang="pt-BR" sz="3600" dirty="0"/>
              <a:t>.  Edições Aduaneiras Ltda. São Paulo, 2003.</a:t>
            </a:r>
          </a:p>
          <a:p>
            <a:pPr>
              <a:buNone/>
            </a:pPr>
            <a:endParaRPr lang="pt-BR" dirty="0"/>
          </a:p>
          <a:p>
            <a:endParaRPr lang="pt-B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000" dirty="0"/>
              <a:t>Bibliografia</a:t>
            </a:r>
          </a:p>
        </p:txBody>
      </p:sp>
      <p:sp>
        <p:nvSpPr>
          <p:cNvPr id="3" name="Espaço Reservado para Conteúdo 2"/>
          <p:cNvSpPr>
            <a:spLocks noGrp="1"/>
          </p:cNvSpPr>
          <p:nvPr>
            <p:ph idx="1"/>
          </p:nvPr>
        </p:nvSpPr>
        <p:spPr>
          <a:xfrm>
            <a:off x="457200" y="1600200"/>
            <a:ext cx="8229600" cy="4829196"/>
          </a:xfrm>
        </p:spPr>
        <p:txBody>
          <a:bodyPr>
            <a:normAutofit fontScale="40000" lnSpcReduction="20000"/>
          </a:bodyPr>
          <a:lstStyle/>
          <a:p>
            <a:r>
              <a:rPr lang="pt-BR" sz="4300" dirty="0"/>
              <a:t>LUDOVICO, Nelson. </a:t>
            </a:r>
            <a:r>
              <a:rPr lang="pt-BR" sz="4300" b="1" dirty="0"/>
              <a:t>Logística Internacional: Um Enfoque em Comércio Exterior</a:t>
            </a:r>
            <a:r>
              <a:rPr lang="pt-BR" sz="4300" dirty="0"/>
              <a:t>. Edições Saraiva. São Paulo, 2007.</a:t>
            </a:r>
          </a:p>
          <a:p>
            <a:r>
              <a:rPr lang="pt-BR" sz="4300" dirty="0"/>
              <a:t>NTC – Associação Nacional do Transporte Rodoviário de Cargas. </a:t>
            </a:r>
            <a:r>
              <a:rPr lang="pt-BR" sz="4300" b="1" dirty="0"/>
              <a:t>Custo Real: Sistema de Apuração de Custos e Formação de Preços do Transporte Rodoviário de Cargas</a:t>
            </a:r>
            <a:r>
              <a:rPr lang="pt-BR" sz="4300" dirty="0"/>
              <a:t>. Morumbi Artes Gráficas e Editora Ltda.. São Paulo, 1996.</a:t>
            </a:r>
          </a:p>
          <a:p>
            <a:r>
              <a:rPr lang="pt-BR" sz="4300" dirty="0"/>
              <a:t>RAPHAEL, Leandro. </a:t>
            </a:r>
            <a:r>
              <a:rPr lang="pt-BR" sz="4300" b="1" dirty="0"/>
              <a:t>Direito Marítimo</a:t>
            </a:r>
            <a:r>
              <a:rPr lang="pt-BR" sz="4300" dirty="0"/>
              <a:t>. Edições Aduaneiras Ltda. 2003. São Paulo, Brasil.</a:t>
            </a:r>
          </a:p>
          <a:p>
            <a:r>
              <a:rPr lang="pt-BR" sz="4300" dirty="0"/>
              <a:t>SCHLÜTER, </a:t>
            </a:r>
            <a:r>
              <a:rPr lang="pt-BR" sz="4300" dirty="0" err="1"/>
              <a:t>Günther</a:t>
            </a:r>
            <a:r>
              <a:rPr lang="pt-BR" sz="4300" dirty="0"/>
              <a:t> H. </a:t>
            </a:r>
            <a:r>
              <a:rPr lang="pt-BR" sz="4300" b="1" dirty="0"/>
              <a:t>Gestão da Empresa de Transporte de Cargas</a:t>
            </a:r>
            <a:r>
              <a:rPr lang="pt-BR" sz="4300" dirty="0"/>
              <a:t>. HTS Editora. Porto Alegre, 2005.</a:t>
            </a:r>
          </a:p>
          <a:p>
            <a:r>
              <a:rPr lang="pt-BR" sz="4300" dirty="0"/>
              <a:t> SILVA, Luiz Augusto T. Logística no Comércio Exterior. Edições Aduaneiras Ltda. São Paulo, 2004.</a:t>
            </a:r>
          </a:p>
          <a:p>
            <a:r>
              <a:rPr lang="pt-BR" sz="4300" dirty="0"/>
              <a:t> TEIXEIRA, José Luiz Lopes. </a:t>
            </a:r>
            <a:r>
              <a:rPr lang="pt-BR" sz="4300" b="1" dirty="0"/>
              <a:t>Modelos Analíticos de Fretes Cobrados para o Transporte de Cargas</a:t>
            </a:r>
            <a:r>
              <a:rPr lang="pt-BR" sz="4300" dirty="0"/>
              <a:t>. </a:t>
            </a:r>
            <a:r>
              <a:rPr lang="en-US" sz="4300" dirty="0" err="1"/>
              <a:t>Dissertação</a:t>
            </a:r>
            <a:r>
              <a:rPr lang="en-US" sz="4300" dirty="0"/>
              <a:t> de </a:t>
            </a:r>
            <a:r>
              <a:rPr lang="en-US" sz="4300" dirty="0" err="1"/>
              <a:t>Mestrado</a:t>
            </a:r>
            <a:r>
              <a:rPr lang="en-US" sz="4300" dirty="0"/>
              <a:t>. </a:t>
            </a:r>
            <a:r>
              <a:rPr lang="en-US" sz="4300" dirty="0" err="1"/>
              <a:t>Instituto</a:t>
            </a:r>
            <a:r>
              <a:rPr lang="en-US" sz="4300" dirty="0"/>
              <a:t> </a:t>
            </a:r>
            <a:r>
              <a:rPr lang="en-US" sz="4300" dirty="0" err="1"/>
              <a:t>Militar</a:t>
            </a:r>
            <a:r>
              <a:rPr lang="en-US" sz="4300" dirty="0"/>
              <a:t> de </a:t>
            </a:r>
            <a:r>
              <a:rPr lang="en-US" sz="4300" dirty="0" err="1"/>
              <a:t>Engenharia</a:t>
            </a:r>
            <a:r>
              <a:rPr lang="en-US" sz="4300" dirty="0"/>
              <a:t> – IME. 2001.</a:t>
            </a:r>
            <a:endParaRPr lang="pt-BR" sz="4300" dirty="0"/>
          </a:p>
          <a:p>
            <a:r>
              <a:rPr lang="en-US" sz="4300" dirty="0"/>
              <a:t> UNCTAD – United Nations Conference on Trade and Development. </a:t>
            </a:r>
            <a:r>
              <a:rPr lang="en-US" sz="4300" b="1" dirty="0"/>
              <a:t>Multimodal Transport Handbook for Officials and Practitioners</a:t>
            </a:r>
            <a:r>
              <a:rPr lang="en-US" sz="4300" dirty="0"/>
              <a:t>. </a:t>
            </a:r>
            <a:r>
              <a:rPr lang="pt-BR" sz="4300" dirty="0" err="1"/>
              <a:t>United</a:t>
            </a:r>
            <a:r>
              <a:rPr lang="pt-BR" sz="4300" dirty="0"/>
              <a:t> </a:t>
            </a:r>
            <a:r>
              <a:rPr lang="pt-BR" sz="4300" dirty="0" err="1"/>
              <a:t>Nations</a:t>
            </a:r>
            <a:r>
              <a:rPr lang="pt-BR" sz="4300" dirty="0"/>
              <a:t>, 1996. Genebra, </a:t>
            </a:r>
            <a:r>
              <a:rPr lang="pt-BR" sz="4300" dirty="0" err="1"/>
              <a:t>Suiça</a:t>
            </a:r>
            <a:r>
              <a:rPr lang="pt-BR" sz="4300" dirty="0"/>
              <a:t>.</a:t>
            </a:r>
          </a:p>
          <a:p>
            <a:r>
              <a:rPr lang="pt-BR" sz="4300" dirty="0"/>
              <a:t> VIEIRA, Guilherme </a:t>
            </a:r>
            <a:r>
              <a:rPr lang="pt-BR" sz="4300" dirty="0" err="1"/>
              <a:t>Bergmann</a:t>
            </a:r>
            <a:r>
              <a:rPr lang="pt-BR" sz="4300" dirty="0"/>
              <a:t> Borges. </a:t>
            </a:r>
            <a:r>
              <a:rPr lang="pt-BR" sz="4300" b="1" dirty="0"/>
              <a:t>Transporte Internacional de Cargas</a:t>
            </a:r>
            <a:r>
              <a:rPr lang="pt-BR" sz="4300" dirty="0"/>
              <a:t>. São Paulo: Edições Aduaneiras Ltda. 2002, 2º Edição.</a:t>
            </a:r>
          </a:p>
          <a:p>
            <a:r>
              <a:rPr lang="pt-BR" sz="4300" dirty="0"/>
              <a:t> ZUIDWIJK, Antonio J. </a:t>
            </a:r>
            <a:r>
              <a:rPr lang="pt-BR" sz="4300" b="1" dirty="0"/>
              <a:t>Contendores, Buques y </a:t>
            </a:r>
            <a:r>
              <a:rPr lang="pt-BR" sz="4300" b="1" dirty="0" err="1"/>
              <a:t>Puertos</a:t>
            </a:r>
            <a:r>
              <a:rPr lang="pt-BR" sz="4300" b="1" dirty="0"/>
              <a:t>: Partes de um Sistema de Transporte</a:t>
            </a:r>
            <a:r>
              <a:rPr lang="pt-BR" sz="4300" dirty="0"/>
              <a:t>. Buenos Aires: </a:t>
            </a:r>
            <a:r>
              <a:rPr lang="pt-BR" sz="4300" dirty="0" err="1"/>
              <a:t>Actualidad</a:t>
            </a:r>
            <a:r>
              <a:rPr lang="pt-BR" sz="4300" dirty="0"/>
              <a:t> Gráfica, 2001.</a:t>
            </a:r>
          </a:p>
          <a:p>
            <a:endParaRPr lang="pt-BR" dirty="0"/>
          </a:p>
        </p:txBody>
      </p:sp>
    </p:spTree>
  </p:cSld>
  <p:clrMapOvr>
    <a:masterClrMapping/>
  </p:clrMapOvr>
</p:sld>
</file>

<file path=ppt/theme/theme1.xml><?xml version="1.0" encoding="utf-8"?>
<a:theme xmlns:a="http://schemas.openxmlformats.org/drawingml/2006/main" name="Tema do Office">
  <a:themeElements>
    <a:clrScheme name="Cívico">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TotalTime>
  <Words>1180</Words>
  <Application>Microsoft Office PowerPoint</Application>
  <PresentationFormat>Apresentação na tela (4:3)</PresentationFormat>
  <Paragraphs>69</Paragraphs>
  <Slides>10</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10</vt:i4>
      </vt:variant>
    </vt:vector>
  </HeadingPairs>
  <TitlesOfParts>
    <vt:vector size="13" baseType="lpstr">
      <vt:lpstr>Arial</vt:lpstr>
      <vt:lpstr>Calibri</vt:lpstr>
      <vt:lpstr>Tema do Office</vt:lpstr>
      <vt:lpstr>Afretamento Marítimo</vt:lpstr>
      <vt:lpstr>Afretamento por tempo (Time Charter)</vt:lpstr>
      <vt:lpstr>Afretamento por tempo (Time Charter)</vt:lpstr>
      <vt:lpstr>Afretamento por tempo (Time Charter)</vt:lpstr>
      <vt:lpstr>Afretamento por tempo (Time Charter)</vt:lpstr>
      <vt:lpstr>Afretamento por tempo (Time Charter)</vt:lpstr>
      <vt:lpstr>Afretamento por tempo (Time Charter)</vt:lpstr>
      <vt:lpstr>Conclusão</vt:lpstr>
      <vt:lpstr>Bibliografia</vt:lpstr>
      <vt:lpstr>Bibliografia</vt:lpstr>
    </vt:vector>
  </TitlesOfParts>
  <Company>Unimes Virtual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Afretamento Marítimo</dc:title>
  <dc:creator>monitoramayara</dc:creator>
  <cp:lastModifiedBy>Dino Grejo</cp:lastModifiedBy>
  <cp:revision>5</cp:revision>
  <dcterms:created xsi:type="dcterms:W3CDTF">2012-07-31T16:47:39Z</dcterms:created>
  <dcterms:modified xsi:type="dcterms:W3CDTF">2020-04-20T23:19:38Z</dcterms:modified>
</cp:coreProperties>
</file>