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C843E8-79E3-46DF-B9E0-8E1469772B0D}" type="doc">
      <dgm:prSet loTypeId="urn:microsoft.com/office/officeart/2005/8/layout/chevron2" loCatId="process" qsTypeId="urn:microsoft.com/office/officeart/2005/8/quickstyle/simple5" qsCatId="simple" csTypeId="urn:microsoft.com/office/officeart/2005/8/colors/accent0_3" csCatId="mainScheme" phldr="1"/>
      <dgm:spPr/>
      <dgm:t>
        <a:bodyPr/>
        <a:lstStyle/>
        <a:p>
          <a:endParaRPr lang="pt-BR"/>
        </a:p>
      </dgm:t>
    </dgm:pt>
    <dgm:pt modelId="{28D8FE36-4C2A-4FD4-B2F7-24252B365412}">
      <dgm:prSet/>
      <dgm:spPr/>
      <dgm:t>
        <a:bodyPr/>
        <a:lstStyle/>
        <a:p>
          <a:pPr rtl="0"/>
          <a:r>
            <a:rPr lang="pt-BR" dirty="0"/>
            <a:t>1</a:t>
          </a:r>
          <a:endParaRPr lang="pt-BR" b="1" dirty="0"/>
        </a:p>
      </dgm:t>
    </dgm:pt>
    <dgm:pt modelId="{7FE41C7F-53C8-4F29-A1D7-A7B52C48F9BA}" type="parTrans" cxnId="{79AADFAA-C3BE-4858-A181-74D517BFC8B6}">
      <dgm:prSet/>
      <dgm:spPr/>
      <dgm:t>
        <a:bodyPr/>
        <a:lstStyle/>
        <a:p>
          <a:endParaRPr lang="pt-BR"/>
        </a:p>
      </dgm:t>
    </dgm:pt>
    <dgm:pt modelId="{9C620255-9694-43EF-99FE-185BF1067B68}" type="sibTrans" cxnId="{79AADFAA-C3BE-4858-A181-74D517BFC8B6}">
      <dgm:prSet/>
      <dgm:spPr/>
      <dgm:t>
        <a:bodyPr/>
        <a:lstStyle/>
        <a:p>
          <a:endParaRPr lang="pt-BR"/>
        </a:p>
      </dgm:t>
    </dgm:pt>
    <dgm:pt modelId="{5D236CA6-985F-48AF-8429-D15EC5398E87}">
      <dgm:prSet/>
      <dgm:spPr/>
      <dgm:t>
        <a:bodyPr/>
        <a:lstStyle/>
        <a:p>
          <a:pPr rtl="0"/>
          <a:r>
            <a:rPr lang="pt-BR" dirty="0"/>
            <a:t>2</a:t>
          </a:r>
        </a:p>
      </dgm:t>
    </dgm:pt>
    <dgm:pt modelId="{CCA5FC4B-4BF5-4240-BCBA-C3F6B0DE8B20}" type="parTrans" cxnId="{6460F996-C356-4E11-BFCE-F741F1BDCA64}">
      <dgm:prSet/>
      <dgm:spPr/>
      <dgm:t>
        <a:bodyPr/>
        <a:lstStyle/>
        <a:p>
          <a:endParaRPr lang="pt-BR"/>
        </a:p>
      </dgm:t>
    </dgm:pt>
    <dgm:pt modelId="{ED2BE1B2-BEFE-4E29-A94E-0E5C9190DCEC}" type="sibTrans" cxnId="{6460F996-C356-4E11-BFCE-F741F1BDCA64}">
      <dgm:prSet/>
      <dgm:spPr/>
      <dgm:t>
        <a:bodyPr/>
        <a:lstStyle/>
        <a:p>
          <a:endParaRPr lang="pt-BR"/>
        </a:p>
      </dgm:t>
    </dgm:pt>
    <dgm:pt modelId="{88DD8BE1-C35D-4ED4-AF83-3FDCB42CEA1E}">
      <dgm:prSet/>
      <dgm:spPr/>
      <dgm:t>
        <a:bodyPr/>
        <a:lstStyle/>
        <a:p>
          <a:pPr rtl="0"/>
          <a:r>
            <a:rPr lang="pt-BR" dirty="0"/>
            <a:t>Para múltiplas viagens</a:t>
          </a:r>
        </a:p>
      </dgm:t>
    </dgm:pt>
    <dgm:pt modelId="{E926EFA3-D6D2-4FE9-B772-7A81C9D8171F}" type="parTrans" cxnId="{EBBE17E0-040D-46E2-BE2B-8FB96155FA24}">
      <dgm:prSet/>
      <dgm:spPr/>
      <dgm:t>
        <a:bodyPr/>
        <a:lstStyle/>
        <a:p>
          <a:endParaRPr lang="pt-BR"/>
        </a:p>
      </dgm:t>
    </dgm:pt>
    <dgm:pt modelId="{5EF6137A-87CA-4487-8FB0-4950CBC0787D}" type="sibTrans" cxnId="{EBBE17E0-040D-46E2-BE2B-8FB96155FA24}">
      <dgm:prSet/>
      <dgm:spPr/>
      <dgm:t>
        <a:bodyPr/>
        <a:lstStyle/>
        <a:p>
          <a:endParaRPr lang="pt-BR"/>
        </a:p>
      </dgm:t>
    </dgm:pt>
    <dgm:pt modelId="{B553AA72-DD95-4013-AD60-E1F97346C790}">
      <dgm:prSet/>
      <dgm:spPr/>
      <dgm:t>
        <a:bodyPr/>
        <a:lstStyle/>
        <a:p>
          <a:pPr rtl="0"/>
          <a:r>
            <a:rPr lang="pt-BR"/>
            <a:t>Para uma única viagem</a:t>
          </a:r>
          <a:endParaRPr lang="pt-BR" b="1" dirty="0"/>
        </a:p>
      </dgm:t>
    </dgm:pt>
    <dgm:pt modelId="{588C2504-E7C1-49F8-91C2-416E389A3863}" type="parTrans" cxnId="{2CBB3CE6-8BD0-496A-98BE-5B2179C26580}">
      <dgm:prSet/>
      <dgm:spPr/>
      <dgm:t>
        <a:bodyPr/>
        <a:lstStyle/>
        <a:p>
          <a:endParaRPr lang="pt-BR"/>
        </a:p>
      </dgm:t>
    </dgm:pt>
    <dgm:pt modelId="{273ACE91-877D-45D0-9ED2-B8696DB7D1A3}" type="sibTrans" cxnId="{2CBB3CE6-8BD0-496A-98BE-5B2179C26580}">
      <dgm:prSet/>
      <dgm:spPr/>
      <dgm:t>
        <a:bodyPr/>
        <a:lstStyle/>
        <a:p>
          <a:endParaRPr lang="pt-BR"/>
        </a:p>
      </dgm:t>
    </dgm:pt>
    <dgm:pt modelId="{4E7788C8-01B8-41B2-BF93-29DA09C8B99F}" type="pres">
      <dgm:prSet presAssocID="{06C843E8-79E3-46DF-B9E0-8E1469772B0D}" presName="linearFlow" presStyleCnt="0">
        <dgm:presLayoutVars>
          <dgm:dir/>
          <dgm:animLvl val="lvl"/>
          <dgm:resizeHandles val="exact"/>
        </dgm:presLayoutVars>
      </dgm:prSet>
      <dgm:spPr/>
    </dgm:pt>
    <dgm:pt modelId="{10D6195C-A982-4AFE-BD2B-BFEF8CAF5806}" type="pres">
      <dgm:prSet presAssocID="{28D8FE36-4C2A-4FD4-B2F7-24252B365412}" presName="composite" presStyleCnt="0"/>
      <dgm:spPr/>
    </dgm:pt>
    <dgm:pt modelId="{3F27EE41-578F-40FB-AD82-505C1022C089}" type="pres">
      <dgm:prSet presAssocID="{28D8FE36-4C2A-4FD4-B2F7-24252B365412}" presName="parentText" presStyleLbl="alignNode1" presStyleIdx="0" presStyleCnt="2">
        <dgm:presLayoutVars>
          <dgm:chMax val="1"/>
          <dgm:bulletEnabled val="1"/>
        </dgm:presLayoutVars>
      </dgm:prSet>
      <dgm:spPr/>
    </dgm:pt>
    <dgm:pt modelId="{2C0A5093-672A-47E5-BF3F-09AC4998F8A2}" type="pres">
      <dgm:prSet presAssocID="{28D8FE36-4C2A-4FD4-B2F7-24252B365412}" presName="descendantText" presStyleLbl="alignAcc1" presStyleIdx="0" presStyleCnt="2">
        <dgm:presLayoutVars>
          <dgm:bulletEnabled val="1"/>
        </dgm:presLayoutVars>
      </dgm:prSet>
      <dgm:spPr/>
    </dgm:pt>
    <dgm:pt modelId="{E8C7F49C-ACC2-475F-A47C-419CB4FF00B4}" type="pres">
      <dgm:prSet presAssocID="{9C620255-9694-43EF-99FE-185BF1067B68}" presName="sp" presStyleCnt="0"/>
      <dgm:spPr/>
    </dgm:pt>
    <dgm:pt modelId="{84C04A48-528C-49BC-9A9D-65F3A9365D91}" type="pres">
      <dgm:prSet presAssocID="{5D236CA6-985F-48AF-8429-D15EC5398E87}" presName="composite" presStyleCnt="0"/>
      <dgm:spPr/>
    </dgm:pt>
    <dgm:pt modelId="{456CE503-C017-4C82-9107-50E44242F66F}" type="pres">
      <dgm:prSet presAssocID="{5D236CA6-985F-48AF-8429-D15EC5398E87}" presName="parentText" presStyleLbl="alignNode1" presStyleIdx="1" presStyleCnt="2">
        <dgm:presLayoutVars>
          <dgm:chMax val="1"/>
          <dgm:bulletEnabled val="1"/>
        </dgm:presLayoutVars>
      </dgm:prSet>
      <dgm:spPr/>
    </dgm:pt>
    <dgm:pt modelId="{0517C377-75CC-43FA-8ED2-874BC8C182CB}" type="pres">
      <dgm:prSet presAssocID="{5D236CA6-985F-48AF-8429-D15EC5398E87}" presName="descendantText" presStyleLbl="alignAcc1" presStyleIdx="1" presStyleCnt="2">
        <dgm:presLayoutVars>
          <dgm:bulletEnabled val="1"/>
        </dgm:presLayoutVars>
      </dgm:prSet>
      <dgm:spPr/>
    </dgm:pt>
  </dgm:ptLst>
  <dgm:cxnLst>
    <dgm:cxn modelId="{E8DF0B92-A089-4347-9EA4-6CB05AA3FA4D}" type="presOf" srcId="{B553AA72-DD95-4013-AD60-E1F97346C790}" destId="{2C0A5093-672A-47E5-BF3F-09AC4998F8A2}" srcOrd="0" destOrd="0" presId="urn:microsoft.com/office/officeart/2005/8/layout/chevron2"/>
    <dgm:cxn modelId="{6460F996-C356-4E11-BFCE-F741F1BDCA64}" srcId="{06C843E8-79E3-46DF-B9E0-8E1469772B0D}" destId="{5D236CA6-985F-48AF-8429-D15EC5398E87}" srcOrd="1" destOrd="0" parTransId="{CCA5FC4B-4BF5-4240-BCBA-C3F6B0DE8B20}" sibTransId="{ED2BE1B2-BEFE-4E29-A94E-0E5C9190DCEC}"/>
    <dgm:cxn modelId="{A642B5A6-75E1-4730-BA9D-5BD59CD21BFC}" type="presOf" srcId="{28D8FE36-4C2A-4FD4-B2F7-24252B365412}" destId="{3F27EE41-578F-40FB-AD82-505C1022C089}" srcOrd="0" destOrd="0" presId="urn:microsoft.com/office/officeart/2005/8/layout/chevron2"/>
    <dgm:cxn modelId="{79AADFAA-C3BE-4858-A181-74D517BFC8B6}" srcId="{06C843E8-79E3-46DF-B9E0-8E1469772B0D}" destId="{28D8FE36-4C2A-4FD4-B2F7-24252B365412}" srcOrd="0" destOrd="0" parTransId="{7FE41C7F-53C8-4F29-A1D7-A7B52C48F9BA}" sibTransId="{9C620255-9694-43EF-99FE-185BF1067B68}"/>
    <dgm:cxn modelId="{9BBDFFAA-F381-4090-BC11-8A9E928C8906}" type="presOf" srcId="{88DD8BE1-C35D-4ED4-AF83-3FDCB42CEA1E}" destId="{0517C377-75CC-43FA-8ED2-874BC8C182CB}" srcOrd="0" destOrd="0" presId="urn:microsoft.com/office/officeart/2005/8/layout/chevron2"/>
    <dgm:cxn modelId="{C020F2B6-BD2F-46FA-9D61-7349E33644F6}" type="presOf" srcId="{06C843E8-79E3-46DF-B9E0-8E1469772B0D}" destId="{4E7788C8-01B8-41B2-BF93-29DA09C8B99F}" srcOrd="0" destOrd="0" presId="urn:microsoft.com/office/officeart/2005/8/layout/chevron2"/>
    <dgm:cxn modelId="{EBBE17E0-040D-46E2-BE2B-8FB96155FA24}" srcId="{5D236CA6-985F-48AF-8429-D15EC5398E87}" destId="{88DD8BE1-C35D-4ED4-AF83-3FDCB42CEA1E}" srcOrd="0" destOrd="0" parTransId="{E926EFA3-D6D2-4FE9-B772-7A81C9D8171F}" sibTransId="{5EF6137A-87CA-4487-8FB0-4950CBC0787D}"/>
    <dgm:cxn modelId="{2CBB3CE6-8BD0-496A-98BE-5B2179C26580}" srcId="{28D8FE36-4C2A-4FD4-B2F7-24252B365412}" destId="{B553AA72-DD95-4013-AD60-E1F97346C790}" srcOrd="0" destOrd="0" parTransId="{588C2504-E7C1-49F8-91C2-416E389A3863}" sibTransId="{273ACE91-877D-45D0-9ED2-B8696DB7D1A3}"/>
    <dgm:cxn modelId="{127AECFB-E0F5-40D4-8EDF-BE65353D514B}" type="presOf" srcId="{5D236CA6-985F-48AF-8429-D15EC5398E87}" destId="{456CE503-C017-4C82-9107-50E44242F66F}" srcOrd="0" destOrd="0" presId="urn:microsoft.com/office/officeart/2005/8/layout/chevron2"/>
    <dgm:cxn modelId="{C6A49D71-0165-49FA-953E-2421A3D3D644}" type="presParOf" srcId="{4E7788C8-01B8-41B2-BF93-29DA09C8B99F}" destId="{10D6195C-A982-4AFE-BD2B-BFEF8CAF5806}" srcOrd="0" destOrd="0" presId="urn:microsoft.com/office/officeart/2005/8/layout/chevron2"/>
    <dgm:cxn modelId="{DC1DF28E-D0F7-4521-A3EA-2412933AD7DB}" type="presParOf" srcId="{10D6195C-A982-4AFE-BD2B-BFEF8CAF5806}" destId="{3F27EE41-578F-40FB-AD82-505C1022C089}" srcOrd="0" destOrd="0" presId="urn:microsoft.com/office/officeart/2005/8/layout/chevron2"/>
    <dgm:cxn modelId="{AF74829E-865B-490C-BFF9-758D681F9948}" type="presParOf" srcId="{10D6195C-A982-4AFE-BD2B-BFEF8CAF5806}" destId="{2C0A5093-672A-47E5-BF3F-09AC4998F8A2}" srcOrd="1" destOrd="0" presId="urn:microsoft.com/office/officeart/2005/8/layout/chevron2"/>
    <dgm:cxn modelId="{6D09642B-04C6-41D3-89DE-8FB90D85CC5E}" type="presParOf" srcId="{4E7788C8-01B8-41B2-BF93-29DA09C8B99F}" destId="{E8C7F49C-ACC2-475F-A47C-419CB4FF00B4}" srcOrd="1" destOrd="0" presId="urn:microsoft.com/office/officeart/2005/8/layout/chevron2"/>
    <dgm:cxn modelId="{7C90F887-32FC-48FB-A0B9-B60192C8A32B}" type="presParOf" srcId="{4E7788C8-01B8-41B2-BF93-29DA09C8B99F}" destId="{84C04A48-528C-49BC-9A9D-65F3A9365D91}" srcOrd="2" destOrd="0" presId="urn:microsoft.com/office/officeart/2005/8/layout/chevron2"/>
    <dgm:cxn modelId="{ADE8656E-2863-4D1A-B379-8D3B319A8CB2}" type="presParOf" srcId="{84C04A48-528C-49BC-9A9D-65F3A9365D91}" destId="{456CE503-C017-4C82-9107-50E44242F66F}" srcOrd="0" destOrd="0" presId="urn:microsoft.com/office/officeart/2005/8/layout/chevron2"/>
    <dgm:cxn modelId="{ACC9E570-847C-4295-84C4-D589B65A9DBC}" type="presParOf" srcId="{84C04A48-528C-49BC-9A9D-65F3A9365D91}" destId="{0517C377-75CC-43FA-8ED2-874BC8C182CB}"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27EE41-578F-40FB-AD82-505C1022C089}">
      <dsp:nvSpPr>
        <dsp:cNvPr id="0" name=""/>
        <dsp:cNvSpPr/>
      </dsp:nvSpPr>
      <dsp:spPr>
        <a:xfrm rot="5400000">
          <a:off x="-178106" y="178231"/>
          <a:ext cx="1187379" cy="831165"/>
        </a:xfrm>
        <a:prstGeom prst="chevron">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r>
            <a:rPr lang="pt-BR" sz="2300" kern="1200" dirty="0"/>
            <a:t>1</a:t>
          </a:r>
          <a:endParaRPr lang="pt-BR" sz="2300" b="1" kern="1200" dirty="0"/>
        </a:p>
      </dsp:txBody>
      <dsp:txXfrm rot="-5400000">
        <a:off x="2" y="415707"/>
        <a:ext cx="831165" cy="356214"/>
      </dsp:txXfrm>
    </dsp:sp>
    <dsp:sp modelId="{2C0A5093-672A-47E5-BF3F-09AC4998F8A2}">
      <dsp:nvSpPr>
        <dsp:cNvPr id="0" name=""/>
        <dsp:cNvSpPr/>
      </dsp:nvSpPr>
      <dsp:spPr>
        <a:xfrm rot="5400000">
          <a:off x="1944208" y="-1112918"/>
          <a:ext cx="771796" cy="2997882"/>
        </a:xfrm>
        <a:prstGeom prst="round2Same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pt-BR" sz="2300" kern="1200"/>
            <a:t>Para uma única viagem</a:t>
          </a:r>
          <a:endParaRPr lang="pt-BR" sz="2300" b="1" kern="1200" dirty="0"/>
        </a:p>
      </dsp:txBody>
      <dsp:txXfrm rot="-5400000">
        <a:off x="831165" y="37801"/>
        <a:ext cx="2960206" cy="696444"/>
      </dsp:txXfrm>
    </dsp:sp>
    <dsp:sp modelId="{456CE503-C017-4C82-9107-50E44242F66F}">
      <dsp:nvSpPr>
        <dsp:cNvPr id="0" name=""/>
        <dsp:cNvSpPr/>
      </dsp:nvSpPr>
      <dsp:spPr>
        <a:xfrm rot="5400000">
          <a:off x="-178106" y="1116261"/>
          <a:ext cx="1187379" cy="831165"/>
        </a:xfrm>
        <a:prstGeom prst="chevron">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r>
            <a:rPr lang="pt-BR" sz="2300" kern="1200" dirty="0"/>
            <a:t>2</a:t>
          </a:r>
        </a:p>
      </dsp:txBody>
      <dsp:txXfrm rot="-5400000">
        <a:off x="2" y="1353737"/>
        <a:ext cx="831165" cy="356214"/>
      </dsp:txXfrm>
    </dsp:sp>
    <dsp:sp modelId="{0517C377-75CC-43FA-8ED2-874BC8C182CB}">
      <dsp:nvSpPr>
        <dsp:cNvPr id="0" name=""/>
        <dsp:cNvSpPr/>
      </dsp:nvSpPr>
      <dsp:spPr>
        <a:xfrm rot="5400000">
          <a:off x="1944208" y="-174887"/>
          <a:ext cx="771796" cy="2997882"/>
        </a:xfrm>
        <a:prstGeom prst="round2Same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pt-BR" sz="2300" kern="1200" dirty="0"/>
            <a:t>Para múltiplas viagens</a:t>
          </a:r>
        </a:p>
      </dsp:txBody>
      <dsp:txXfrm rot="-5400000">
        <a:off x="831165" y="975832"/>
        <a:ext cx="2960206" cy="696444"/>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estilo do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BAF50CDC-6AAB-46FB-8714-955F81886432}" type="datetimeFigureOut">
              <a:rPr lang="pt-BR" smtClean="0"/>
              <a:pPr/>
              <a:t>20/04/2020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0EC49C3-607B-4302-AAE7-CD50DDA65867}" type="slidenum">
              <a:rPr lang="pt-BR" smtClean="0"/>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BAF50CDC-6AAB-46FB-8714-955F81886432}" type="datetimeFigureOut">
              <a:rPr lang="pt-BR" smtClean="0"/>
              <a:pPr/>
              <a:t>20/04/2020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0EC49C3-607B-4302-AAE7-CD50DDA65867}" type="slidenum">
              <a:rPr lang="pt-BR" smtClean="0"/>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do texto mestre</a:t>
            </a:r>
          </a:p>
        </p:txBody>
      </p:sp>
      <p:sp>
        <p:nvSpPr>
          <p:cNvPr id="4" name="Espaço Reservado para Data 3"/>
          <p:cNvSpPr>
            <a:spLocks noGrp="1"/>
          </p:cNvSpPr>
          <p:nvPr>
            <p:ph type="dt" sz="half" idx="10"/>
          </p:nvPr>
        </p:nvSpPr>
        <p:spPr/>
        <p:txBody>
          <a:bodyPr/>
          <a:lstStyle/>
          <a:p>
            <a:fld id="{BAF50CDC-6AAB-46FB-8714-955F81886432}" type="datetimeFigureOut">
              <a:rPr lang="pt-BR" smtClean="0"/>
              <a:pPr/>
              <a:t>20/04/2020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0EC49C3-607B-4302-AAE7-CD50DDA65867}" type="slidenum">
              <a:rPr lang="pt-BR" smtClean="0"/>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BAF50CDC-6AAB-46FB-8714-955F81886432}" type="datetimeFigureOut">
              <a:rPr lang="pt-BR" smtClean="0"/>
              <a:pPr/>
              <a:t>20/04/2020</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0EC49C3-607B-4302-AAE7-CD50DDA65867}" type="slidenum">
              <a:rPr lang="pt-BR" smtClean="0"/>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BAF50CDC-6AAB-46FB-8714-955F81886432}" type="datetimeFigureOut">
              <a:rPr lang="pt-BR" smtClean="0"/>
              <a:pPr/>
              <a:t>20/04/2020</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50EC49C3-607B-4302-AAE7-CD50DDA65867}" type="slidenum">
              <a:rPr lang="pt-BR" smtClean="0"/>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Data 2"/>
          <p:cNvSpPr>
            <a:spLocks noGrp="1"/>
          </p:cNvSpPr>
          <p:nvPr>
            <p:ph type="dt" sz="half" idx="10"/>
          </p:nvPr>
        </p:nvSpPr>
        <p:spPr/>
        <p:txBody>
          <a:bodyPr/>
          <a:lstStyle/>
          <a:p>
            <a:fld id="{BAF50CDC-6AAB-46FB-8714-955F81886432}" type="datetimeFigureOut">
              <a:rPr lang="pt-BR" smtClean="0"/>
              <a:pPr/>
              <a:t>20/04/2020</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50EC49C3-607B-4302-AAE7-CD50DDA65867}" type="slidenum">
              <a:rPr lang="pt-BR" smtClean="0"/>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AF50CDC-6AAB-46FB-8714-955F81886432}" type="datetimeFigureOut">
              <a:rPr lang="pt-BR" smtClean="0"/>
              <a:pPr/>
              <a:t>20/04/2020</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50EC49C3-607B-4302-AAE7-CD50DDA65867}" type="slidenum">
              <a:rPr lang="pt-BR" smtClean="0"/>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4"/>
          <p:cNvSpPr>
            <a:spLocks noGrp="1"/>
          </p:cNvSpPr>
          <p:nvPr>
            <p:ph type="dt" sz="half" idx="10"/>
          </p:nvPr>
        </p:nvSpPr>
        <p:spPr/>
        <p:txBody>
          <a:bodyPr/>
          <a:lstStyle/>
          <a:p>
            <a:fld id="{BAF50CDC-6AAB-46FB-8714-955F81886432}" type="datetimeFigureOut">
              <a:rPr lang="pt-BR" smtClean="0"/>
              <a:pPr/>
              <a:t>20/04/2020</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0EC49C3-607B-4302-AAE7-CD50DDA65867}" type="slidenum">
              <a:rPr lang="pt-BR" smtClean="0"/>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4"/>
          <p:cNvSpPr>
            <a:spLocks noGrp="1"/>
          </p:cNvSpPr>
          <p:nvPr>
            <p:ph type="dt" sz="half" idx="10"/>
          </p:nvPr>
        </p:nvSpPr>
        <p:spPr/>
        <p:txBody>
          <a:bodyPr/>
          <a:lstStyle/>
          <a:p>
            <a:fld id="{BAF50CDC-6AAB-46FB-8714-955F81886432}" type="datetimeFigureOut">
              <a:rPr lang="pt-BR" smtClean="0"/>
              <a:pPr/>
              <a:t>20/04/2020</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0EC49C3-607B-4302-AAE7-CD50DDA65867}" type="slidenum">
              <a:rPr lang="pt-BR" smtClean="0"/>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BAF50CDC-6AAB-46FB-8714-955F81886432}" type="datetimeFigureOut">
              <a:rPr lang="pt-BR" smtClean="0"/>
              <a:pPr/>
              <a:t>20/04/2020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0EC49C3-607B-4302-AAE7-CD50DDA65867}" type="slidenum">
              <a:rPr lang="pt-BR" smtClean="0"/>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BAF50CDC-6AAB-46FB-8714-955F81886432}" type="datetimeFigureOut">
              <a:rPr lang="pt-BR" smtClean="0"/>
              <a:pPr/>
              <a:t>20/04/2020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0EC49C3-607B-4302-AAE7-CD50DDA65867}" type="slidenum">
              <a:rPr lang="pt-BR" smtClean="0"/>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F50CDC-6AAB-46FB-8714-955F81886432}" type="datetimeFigureOut">
              <a:rPr lang="pt-BR" smtClean="0"/>
              <a:pPr/>
              <a:t>20/04/2020</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EC49C3-607B-4302-AAE7-CD50DDA65867}" type="slidenum">
              <a:rPr lang="pt-BR" smtClean="0"/>
              <a:pPr/>
              <a:t>‹nº›</a:t>
            </a:fld>
            <a:endParaRPr lang="pt-B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a:t>Afretamento Marítimo</a:t>
            </a:r>
          </a:p>
        </p:txBody>
      </p:sp>
      <p:sp>
        <p:nvSpPr>
          <p:cNvPr id="3" name="Subtítulo 2"/>
          <p:cNvSpPr>
            <a:spLocks noGrp="1"/>
          </p:cNvSpPr>
          <p:nvPr>
            <p:ph type="subTitle" idx="1"/>
          </p:nvPr>
        </p:nvSpPr>
        <p:spPr>
          <a:xfrm>
            <a:off x="1371600" y="5000636"/>
            <a:ext cx="6400800" cy="732620"/>
          </a:xfrm>
        </p:spPr>
        <p:txBody>
          <a:bodyPr>
            <a:normAutofit fontScale="70000" lnSpcReduction="20000"/>
          </a:bodyPr>
          <a:lstStyle/>
          <a:p>
            <a:r>
              <a:rPr lang="pt-BR" i="1" dirty="0"/>
              <a:t>Aula 3</a:t>
            </a:r>
          </a:p>
          <a:p>
            <a:r>
              <a:rPr lang="pt-BR" dirty="0"/>
              <a:t>Voyage Charter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Tipos de Afretamento</a:t>
            </a:r>
          </a:p>
        </p:txBody>
      </p:sp>
      <p:sp>
        <p:nvSpPr>
          <p:cNvPr id="3" name="Espaço Reservado para Conteúdo 2"/>
          <p:cNvSpPr>
            <a:spLocks noGrp="1"/>
          </p:cNvSpPr>
          <p:nvPr>
            <p:ph idx="1"/>
          </p:nvPr>
        </p:nvSpPr>
        <p:spPr>
          <a:xfrm>
            <a:off x="457200" y="1600200"/>
            <a:ext cx="8229600" cy="3614750"/>
          </a:xfrm>
        </p:spPr>
        <p:txBody>
          <a:bodyPr>
            <a:normAutofit fontScale="92500" lnSpcReduction="10000"/>
          </a:bodyPr>
          <a:lstStyle/>
          <a:p>
            <a:pPr lvl="1">
              <a:buFont typeface="Wingdings" pitchFamily="2" charset="2"/>
              <a:buChar char="§"/>
            </a:pPr>
            <a:r>
              <a:rPr lang="pt-BR" sz="2400" b="1" dirty="0"/>
              <a:t>Afretamento por viagem (Voyage Charter)</a:t>
            </a:r>
          </a:p>
          <a:p>
            <a:endParaRPr lang="pt-BR" sz="2400" dirty="0"/>
          </a:p>
          <a:p>
            <a:r>
              <a:rPr lang="pt-BR" sz="2400" dirty="0"/>
              <a:t>A relação comercial, nesse tipo de afretamento, se dá em geral entre um proprietário de mercadorias (afretador) e o armador (fretador).</a:t>
            </a:r>
          </a:p>
          <a:p>
            <a:endParaRPr lang="pt-BR" sz="2400" b="1" dirty="0"/>
          </a:p>
          <a:p>
            <a:r>
              <a:rPr lang="pt-BR" sz="2400" dirty="0"/>
              <a:t>Entre as principais razões para que um proprietário de carga faça o fretamento de um navio estão a necessidade de transportar grande quantidade de carga, a indisponibilidade de navios regulares de linha, as vantagens de frete.</a:t>
            </a:r>
            <a:endParaRPr lang="pt-BR" sz="2400" b="1" dirty="0"/>
          </a:p>
          <a:p>
            <a:endParaRPr lang="pt-B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Tipos de Afretamento</a:t>
            </a:r>
          </a:p>
        </p:txBody>
      </p:sp>
      <p:graphicFrame>
        <p:nvGraphicFramePr>
          <p:cNvPr id="4" name="Espaço Reservado para Conteúdo 3"/>
          <p:cNvGraphicFramePr>
            <a:graphicFrameLocks noGrp="1"/>
          </p:cNvGraphicFramePr>
          <p:nvPr>
            <p:ph idx="1"/>
          </p:nvPr>
        </p:nvGraphicFramePr>
        <p:xfrm>
          <a:off x="2571736" y="2446349"/>
          <a:ext cx="3829048" cy="21256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25" name="Rectangle 1"/>
          <p:cNvSpPr>
            <a:spLocks noChangeArrowheads="1"/>
          </p:cNvSpPr>
          <p:nvPr/>
        </p:nvSpPr>
        <p:spPr bwMode="auto">
          <a:xfrm>
            <a:off x="642910" y="1528692"/>
            <a:ext cx="4750339" cy="40011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49263" algn="just" defTabSz="914400" rtl="0" eaLnBrk="1" fontAlgn="base" latinLnBrk="0" hangingPunct="1">
              <a:lnSpc>
                <a:spcPct val="100000"/>
              </a:lnSpc>
              <a:spcBef>
                <a:spcPct val="0"/>
              </a:spcBef>
              <a:spcAft>
                <a:spcPct val="0"/>
              </a:spcAft>
              <a:buClrTx/>
              <a:buSzTx/>
              <a:buFontTx/>
              <a:buNone/>
              <a:tabLst/>
            </a:pPr>
            <a:r>
              <a:rPr kumimoji="0" lang="pt-BR" sz="2000" b="0" i="0" u="none" strike="noStrike" cap="none" normalizeH="0" baseline="0" dirty="0">
                <a:ln>
                  <a:noFill/>
                </a:ln>
                <a:solidFill>
                  <a:schemeClr val="tx1"/>
                </a:solidFill>
                <a:effectLst/>
                <a:latin typeface="Arial" pitchFamily="34" charset="0"/>
                <a:ea typeface="Times New Roman" pitchFamily="18" charset="0"/>
              </a:rPr>
              <a:t>O afretamento por viagem pode ser:</a:t>
            </a:r>
            <a:endParaRPr kumimoji="0" lang="pt-BR" sz="2000" b="0" i="0" u="none" strike="noStrike" cap="none" normalizeH="0" baseline="0" dirty="0">
              <a:ln>
                <a:noFill/>
              </a:ln>
              <a:solidFill>
                <a:schemeClr val="tx1"/>
              </a:solidFill>
              <a:effectLst/>
              <a:latin typeface="Arial"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Para uma única viagem</a:t>
            </a:r>
          </a:p>
        </p:txBody>
      </p:sp>
      <p:sp>
        <p:nvSpPr>
          <p:cNvPr id="3" name="Espaço Reservado para Conteúdo 2"/>
          <p:cNvSpPr>
            <a:spLocks noGrp="1"/>
          </p:cNvSpPr>
          <p:nvPr>
            <p:ph idx="1"/>
          </p:nvPr>
        </p:nvSpPr>
        <p:spPr>
          <a:xfrm>
            <a:off x="457200" y="1600201"/>
            <a:ext cx="8229600" cy="2543180"/>
          </a:xfrm>
        </p:spPr>
        <p:txBody>
          <a:bodyPr>
            <a:normAutofit fontScale="70000" lnSpcReduction="20000"/>
          </a:bodyPr>
          <a:lstStyle/>
          <a:p>
            <a:pPr lvl="0"/>
            <a:r>
              <a:rPr lang="pt-BR" b="1" dirty="0"/>
              <a:t>Pode </a:t>
            </a:r>
            <a:r>
              <a:rPr lang="pt-BR" dirty="0"/>
              <a:t>surgir a necessidade para o cliente de contratar um navio para levar sua carga até o destino. </a:t>
            </a:r>
          </a:p>
          <a:p>
            <a:pPr lvl="0"/>
            <a:endParaRPr lang="pt-BR" b="1" dirty="0"/>
          </a:p>
          <a:p>
            <a:r>
              <a:rPr lang="pt-BR" dirty="0"/>
              <a:t>Por exemplo, o afretador pode ter um ou mais equipamentos de grandes dimensões para ser transportado até um cliente em qualquer parte do mundo. Assim, o afretador procura um armador e aluga o navio para cumprir essa única viagem.</a:t>
            </a:r>
            <a:endParaRPr lang="pt-BR" b="1" dirty="0"/>
          </a:p>
          <a:p>
            <a:pPr lvl="0"/>
            <a:endParaRPr lang="pt-BR" b="1" dirty="0"/>
          </a:p>
          <a:p>
            <a:endParaRPr lang="pt-B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Para uma única viagem</a:t>
            </a:r>
          </a:p>
        </p:txBody>
      </p:sp>
      <p:sp>
        <p:nvSpPr>
          <p:cNvPr id="3" name="Espaço Reservado para Conteúdo 2"/>
          <p:cNvSpPr>
            <a:spLocks noGrp="1"/>
          </p:cNvSpPr>
          <p:nvPr>
            <p:ph idx="1"/>
          </p:nvPr>
        </p:nvSpPr>
        <p:spPr>
          <a:xfrm>
            <a:off x="457200" y="1600201"/>
            <a:ext cx="8229600" cy="3114684"/>
          </a:xfrm>
        </p:spPr>
        <p:txBody>
          <a:bodyPr>
            <a:normAutofit fontScale="77500" lnSpcReduction="20000"/>
          </a:bodyPr>
          <a:lstStyle/>
          <a:p>
            <a:r>
              <a:rPr lang="pt-BR" dirty="0"/>
              <a:t>Nesse caso, toda a gestão comercial do navio, durante essa viagem, é de responsabilidade do afretador, enquanto o fretador (armador) fica com toda a gestão operacional, sendo responsável pela navegação e pelo transporte.</a:t>
            </a:r>
          </a:p>
          <a:p>
            <a:endParaRPr lang="pt-BR" b="1" dirty="0"/>
          </a:p>
          <a:p>
            <a:r>
              <a:rPr lang="pt-BR" dirty="0"/>
              <a:t>Uma desvantagem é que geralmente o fretador cobra um valor um pouco mais alto pela disponibilização do navio para atender a necessidade específica daquele cliente. </a:t>
            </a:r>
            <a:endParaRPr lang="pt-BR" b="1" dirty="0"/>
          </a:p>
          <a:p>
            <a:endParaRPr lang="pt-BR" dirty="0"/>
          </a:p>
        </p:txBody>
      </p:sp>
      <p:pic>
        <p:nvPicPr>
          <p:cNvPr id="6146" name="Picture 2" descr="http://4.bp.blogspot.com/-7elI_KwzZNQ/Tc2xkJpYxyI/AAAAAAAAE3I/rLVI1dpAsg4/s1600/o_maior_navio_do_mundo.jpg"/>
          <p:cNvPicPr>
            <a:picLocks noChangeAspect="1" noChangeArrowheads="1"/>
          </p:cNvPicPr>
          <p:nvPr/>
        </p:nvPicPr>
        <p:blipFill>
          <a:blip r:embed="rId2" cstate="print"/>
          <a:srcRect/>
          <a:stretch>
            <a:fillRect/>
          </a:stretch>
        </p:blipFill>
        <p:spPr bwMode="auto">
          <a:xfrm>
            <a:off x="1857356" y="4357694"/>
            <a:ext cx="5834050" cy="1925223"/>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Para uma única viagem</a:t>
            </a:r>
          </a:p>
        </p:txBody>
      </p:sp>
      <p:sp>
        <p:nvSpPr>
          <p:cNvPr id="3" name="Espaço Reservado para Conteúdo 2"/>
          <p:cNvSpPr>
            <a:spLocks noGrp="1"/>
          </p:cNvSpPr>
          <p:nvPr>
            <p:ph idx="1"/>
          </p:nvPr>
        </p:nvSpPr>
        <p:spPr>
          <a:xfrm>
            <a:off x="457200" y="1600200"/>
            <a:ext cx="8229600" cy="3186122"/>
          </a:xfrm>
        </p:spPr>
        <p:txBody>
          <a:bodyPr>
            <a:normAutofit fontScale="70000" lnSpcReduction="20000"/>
          </a:bodyPr>
          <a:lstStyle/>
          <a:p>
            <a:r>
              <a:rPr lang="pt-BR" dirty="0"/>
              <a:t>É como se comparássemos ao uso de um taxi, que nos cobra uma bandeirada inicial para cobrir seus custos de ter que ir até um local onde não sabe se terá outro cliente a sua espera e talvez tenha que retornar vazio ao ponto de origem ou sair em busca de clientes próximos ao local de destino.</a:t>
            </a:r>
            <a:endParaRPr lang="pt-BR" b="1" dirty="0"/>
          </a:p>
          <a:p>
            <a:endParaRPr lang="pt-BR" b="1" dirty="0"/>
          </a:p>
          <a:p>
            <a:r>
              <a:rPr lang="pt-BR" dirty="0"/>
              <a:t>	O valor cobrado pelo afretamento é, geralmente, definido pela quantidade de carga transportada (peso ou volume, ou ambos).</a:t>
            </a:r>
            <a:endParaRPr lang="pt-BR" b="1" dirty="0"/>
          </a:p>
          <a:p>
            <a:endParaRPr lang="pt-B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Para múltiplas viagens</a:t>
            </a:r>
          </a:p>
        </p:txBody>
      </p:sp>
      <p:sp>
        <p:nvSpPr>
          <p:cNvPr id="3" name="Espaço Reservado para Conteúdo 2"/>
          <p:cNvSpPr>
            <a:spLocks noGrp="1"/>
          </p:cNvSpPr>
          <p:nvPr>
            <p:ph idx="1"/>
          </p:nvPr>
        </p:nvSpPr>
        <p:spPr>
          <a:xfrm>
            <a:off x="457200" y="1600201"/>
            <a:ext cx="8229600" cy="2900370"/>
          </a:xfrm>
        </p:spPr>
        <p:txBody>
          <a:bodyPr>
            <a:normAutofit fontScale="77500" lnSpcReduction="20000"/>
          </a:bodyPr>
          <a:lstStyle/>
          <a:p>
            <a:pPr lvl="0"/>
            <a:r>
              <a:rPr lang="pt-BR" dirty="0"/>
              <a:t>Em geral a contratação se dá para viagens consecutivas, pois o fretador não poderá ficar aguardando a necessidade de um cliente para fechar o contrato de cada viagem.</a:t>
            </a:r>
          </a:p>
          <a:p>
            <a:pPr lvl="0"/>
            <a:endParaRPr lang="pt-BR" b="1" dirty="0"/>
          </a:p>
          <a:p>
            <a:r>
              <a:rPr lang="pt-BR" dirty="0"/>
              <a:t>Em geral ocorre quando um afretador fecha um grande contrato de venda de seus produtos e, para cumpri-lo, deverá entregar a mercadoria no destino.</a:t>
            </a:r>
            <a:endParaRPr lang="pt-BR" b="1" dirty="0"/>
          </a:p>
          <a:p>
            <a:pPr>
              <a:buNone/>
            </a:pPr>
            <a:r>
              <a:rPr lang="pt-BR" dirty="0"/>
              <a:t> </a:t>
            </a:r>
            <a:endParaRPr lang="pt-BR" b="1" dirty="0"/>
          </a:p>
          <a:p>
            <a:endParaRPr lang="pt-BR" dirty="0"/>
          </a:p>
        </p:txBody>
      </p:sp>
      <p:pic>
        <p:nvPicPr>
          <p:cNvPr id="4098" name="Picture 2" descr="http://www.popa.com.br/_2009/CRONICAS/_FOTOS/hansa-stavanger.jpg"/>
          <p:cNvPicPr>
            <a:picLocks noChangeAspect="1" noChangeArrowheads="1"/>
          </p:cNvPicPr>
          <p:nvPr/>
        </p:nvPicPr>
        <p:blipFill>
          <a:blip r:embed="rId2" cstate="print"/>
          <a:srcRect/>
          <a:stretch>
            <a:fillRect/>
          </a:stretch>
        </p:blipFill>
        <p:spPr bwMode="auto">
          <a:xfrm>
            <a:off x="2357422" y="4357694"/>
            <a:ext cx="4286250" cy="2281237"/>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Para múltiplas viagens</a:t>
            </a:r>
          </a:p>
        </p:txBody>
      </p:sp>
      <p:sp>
        <p:nvSpPr>
          <p:cNvPr id="3" name="Espaço Reservado para Conteúdo 2"/>
          <p:cNvSpPr>
            <a:spLocks noGrp="1"/>
          </p:cNvSpPr>
          <p:nvPr>
            <p:ph idx="1"/>
          </p:nvPr>
        </p:nvSpPr>
        <p:spPr>
          <a:xfrm>
            <a:off x="457200" y="1600201"/>
            <a:ext cx="8229600" cy="2900369"/>
          </a:xfrm>
        </p:spPr>
        <p:txBody>
          <a:bodyPr>
            <a:normAutofit fontScale="70000" lnSpcReduction="20000"/>
          </a:bodyPr>
          <a:lstStyle/>
          <a:p>
            <a:r>
              <a:rPr lang="pt-BR" dirty="0"/>
              <a:t>É muito comum para grandes vendas de produtos a granel (sólido ou líquido). Por exemplo: a venda de uma grande quantidade de soja de um exportador no Brasil para um importador na China. </a:t>
            </a:r>
          </a:p>
          <a:p>
            <a:endParaRPr lang="pt-BR" b="1" dirty="0"/>
          </a:p>
          <a:p>
            <a:r>
              <a:rPr lang="pt-BR" dirty="0"/>
              <a:t>O vendedor deverá fazer várias viagens para entregar todo o produto vendido e, para tal, </a:t>
            </a:r>
            <a:r>
              <a:rPr lang="pt-BR" dirty="0" err="1"/>
              <a:t>afreta</a:t>
            </a:r>
            <a:r>
              <a:rPr lang="pt-BR" dirty="0"/>
              <a:t> um navio </a:t>
            </a:r>
            <a:r>
              <a:rPr lang="pt-BR" dirty="0" err="1"/>
              <a:t>graneleiro</a:t>
            </a:r>
            <a:r>
              <a:rPr lang="pt-BR" dirty="0"/>
              <a:t> (</a:t>
            </a:r>
            <a:r>
              <a:rPr lang="pt-BR" dirty="0" err="1"/>
              <a:t>bulk</a:t>
            </a:r>
            <a:r>
              <a:rPr lang="pt-BR" dirty="0"/>
              <a:t>) para várias viagens consecutivas até o fechamento da quantidade de carga vendida ao importador.</a:t>
            </a:r>
            <a:endParaRPr lang="pt-BR" b="1" dirty="0"/>
          </a:p>
          <a:p>
            <a:endParaRPr lang="pt-BR" dirty="0"/>
          </a:p>
        </p:txBody>
      </p:sp>
      <p:pic>
        <p:nvPicPr>
          <p:cNvPr id="3074" name="Picture 2" descr="http://g1.globo.com/Noticias/Mundo/foto/0,,10942204,00.jpg"/>
          <p:cNvPicPr>
            <a:picLocks noChangeAspect="1" noChangeArrowheads="1"/>
          </p:cNvPicPr>
          <p:nvPr/>
        </p:nvPicPr>
        <p:blipFill>
          <a:blip r:embed="rId2" cstate="print"/>
          <a:srcRect/>
          <a:stretch>
            <a:fillRect/>
          </a:stretch>
        </p:blipFill>
        <p:spPr bwMode="auto">
          <a:xfrm>
            <a:off x="1428728" y="4143380"/>
            <a:ext cx="5667375" cy="2324089"/>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Para múltiplas viagens</a:t>
            </a:r>
          </a:p>
        </p:txBody>
      </p:sp>
      <p:sp>
        <p:nvSpPr>
          <p:cNvPr id="3" name="Espaço Reservado para Conteúdo 2"/>
          <p:cNvSpPr>
            <a:spLocks noGrp="1"/>
          </p:cNvSpPr>
          <p:nvPr>
            <p:ph idx="1"/>
          </p:nvPr>
        </p:nvSpPr>
        <p:spPr/>
        <p:txBody>
          <a:bodyPr>
            <a:normAutofit fontScale="70000" lnSpcReduction="20000"/>
          </a:bodyPr>
          <a:lstStyle/>
          <a:p>
            <a:r>
              <a:rPr lang="pt-BR" dirty="0"/>
              <a:t>Em um contrato de afretamento por tempo para múltiplas viagens consecutivas, a vantagem para o afretador está em ter o navio disponível até a finalização do transporte de toda a quantidade de mercadorias vendidas ao seu cliente, sem o risco de que faltem navios no mercado e não possa cumprir seu contrato de venda.</a:t>
            </a:r>
          </a:p>
          <a:p>
            <a:endParaRPr lang="pt-BR" b="1" dirty="0"/>
          </a:p>
          <a:p>
            <a:r>
              <a:rPr lang="pt-BR" dirty="0"/>
              <a:t>Para o fretador, a vantagem está em manter o navio em plena utilização comercial, sem ter que ficar buscando clientes para viagens individuais, que gerariam grandes esforços de negociação a cada contrato.</a:t>
            </a:r>
          </a:p>
          <a:p>
            <a:endParaRPr lang="pt-BR" b="1" dirty="0"/>
          </a:p>
          <a:p>
            <a:r>
              <a:rPr lang="pt-BR" dirty="0"/>
              <a:t>É importante ressaltar que em um contrato de afretamento por múltiplas viagens consecutivas é comum estabelecer um tempo máximo para conclusão das viagens.</a:t>
            </a:r>
            <a:endParaRPr lang="pt-BR" b="1" dirty="0"/>
          </a:p>
          <a:p>
            <a:endParaRPr lang="pt-B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z="3000" dirty="0"/>
              <a:t>Conclusão</a:t>
            </a:r>
          </a:p>
        </p:txBody>
      </p:sp>
      <p:sp>
        <p:nvSpPr>
          <p:cNvPr id="3" name="Espaço Reservado para Conteúdo 2"/>
          <p:cNvSpPr>
            <a:spLocks noGrp="1"/>
          </p:cNvSpPr>
          <p:nvPr>
            <p:ph idx="1"/>
          </p:nvPr>
        </p:nvSpPr>
        <p:spPr/>
        <p:txBody>
          <a:bodyPr/>
          <a:lstStyle/>
          <a:p>
            <a:r>
              <a:rPr lang="pt-BR" sz="2200" b="1" dirty="0"/>
              <a:t>Nesta aula vimos:</a:t>
            </a:r>
          </a:p>
          <a:p>
            <a:endParaRPr lang="pt-BR" sz="2200" b="1"/>
          </a:p>
          <a:p>
            <a:pPr lvl="1"/>
            <a:r>
              <a:rPr lang="pt-BR" sz="2000"/>
              <a:t> </a:t>
            </a:r>
            <a:r>
              <a:rPr lang="pt-BR" sz="2000" dirty="0"/>
              <a:t>Voyage Charter e não </a:t>
            </a:r>
            <a:r>
              <a:rPr lang="pt-BR" sz="2000" dirty="0" err="1"/>
              <a:t>Bare</a:t>
            </a:r>
            <a:r>
              <a:rPr lang="pt-BR" sz="2000" dirty="0"/>
              <a:t> </a:t>
            </a:r>
            <a:r>
              <a:rPr lang="pt-BR" sz="2000" dirty="0" err="1"/>
              <a:t>Boat</a:t>
            </a:r>
            <a:r>
              <a:rPr lang="pt-BR" sz="2000" dirty="0"/>
              <a:t> Charter.</a:t>
            </a:r>
            <a:endParaRPr lang="pt-BR" dirty="0"/>
          </a:p>
        </p:txBody>
      </p:sp>
    </p:spTree>
  </p:cSld>
  <p:clrMapOvr>
    <a:masterClrMapping/>
  </p:clrMapOvr>
</p:sld>
</file>

<file path=ppt/theme/theme1.xml><?xml version="1.0" encoding="utf-8"?>
<a:theme xmlns:a="http://schemas.openxmlformats.org/drawingml/2006/main" name="Tema do Office">
  <a:themeElements>
    <a:clrScheme name="Cívico">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TotalTime>
  <Words>599</Words>
  <Application>Microsoft Office PowerPoint</Application>
  <PresentationFormat>Apresentação na tela (4:3)</PresentationFormat>
  <Paragraphs>46</Paragraphs>
  <Slides>10</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10</vt:i4>
      </vt:variant>
    </vt:vector>
  </HeadingPairs>
  <TitlesOfParts>
    <vt:vector size="14" baseType="lpstr">
      <vt:lpstr>Arial</vt:lpstr>
      <vt:lpstr>Calibri</vt:lpstr>
      <vt:lpstr>Wingdings</vt:lpstr>
      <vt:lpstr>Tema do Office</vt:lpstr>
      <vt:lpstr>Afretamento Marítimo</vt:lpstr>
      <vt:lpstr>Tipos de Afretamento</vt:lpstr>
      <vt:lpstr>Tipos de Afretamento</vt:lpstr>
      <vt:lpstr>Para uma única viagem</vt:lpstr>
      <vt:lpstr>Para uma única viagem</vt:lpstr>
      <vt:lpstr>Para uma única viagem</vt:lpstr>
      <vt:lpstr>Para múltiplas viagens</vt:lpstr>
      <vt:lpstr>Para múltiplas viagens</vt:lpstr>
      <vt:lpstr>Para múltiplas viagens</vt:lpstr>
      <vt:lpstr>Conclusão</vt:lpstr>
    </vt:vector>
  </TitlesOfParts>
  <Company>Unimes Virtual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Afretamento Marítimo</dc:title>
  <dc:creator>monitoramayara</dc:creator>
  <cp:lastModifiedBy>Dino Grejo</cp:lastModifiedBy>
  <cp:revision>7</cp:revision>
  <dcterms:created xsi:type="dcterms:W3CDTF">2012-07-31T16:38:30Z</dcterms:created>
  <dcterms:modified xsi:type="dcterms:W3CDTF">2020-04-20T21:59:57Z</dcterms:modified>
</cp:coreProperties>
</file>