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1" r:id="rId6"/>
    <p:sldId id="262" r:id="rId7"/>
    <p:sldId id="260" r:id="rId8"/>
    <p:sldId id="263" r:id="rId9"/>
    <p:sldId id="264" r:id="rId10"/>
    <p:sldId id="265" r:id="rId11"/>
    <p:sldId id="266" r:id="rId12"/>
    <p:sldId id="267" r:id="rId13"/>
    <p:sldId id="268" r:id="rId14"/>
    <p:sldId id="269" r:id="rId15"/>
    <p:sldId id="270" r:id="rId16"/>
  </p:sldIdLst>
  <p:sldSz cx="9144000" cy="6858000" type="screen4x3"/>
  <p:notesSz cx="6858000" cy="9144000"/>
  <p:custDataLst>
    <p:tags r:id="rId18"/>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BB31AB-9EDF-441B-BEBF-18D00CAA1087}" type="doc">
      <dgm:prSet loTypeId="urn:microsoft.com/office/officeart/2005/8/layout/chevron2" loCatId="process" qsTypeId="urn:microsoft.com/office/officeart/2005/8/quickstyle/simple5" qsCatId="simple" csTypeId="urn:microsoft.com/office/officeart/2005/8/colors/accent0_2" csCatId="mainScheme" phldr="1"/>
      <dgm:spPr/>
      <dgm:t>
        <a:bodyPr/>
        <a:lstStyle/>
        <a:p>
          <a:endParaRPr lang="pt-BR"/>
        </a:p>
      </dgm:t>
    </dgm:pt>
    <dgm:pt modelId="{32A79325-8AF6-47C2-A990-A03F24185181}">
      <dgm:prSet phldrT="[Texto]" custT="1"/>
      <dgm:spPr/>
      <dgm:t>
        <a:bodyPr/>
        <a:lstStyle/>
        <a:p>
          <a:r>
            <a:rPr lang="pt-BR" sz="1800" dirty="0"/>
            <a:t>1</a:t>
          </a:r>
        </a:p>
      </dgm:t>
    </dgm:pt>
    <dgm:pt modelId="{3591EF21-D995-4189-9E0E-975A597AFBFF}" type="parTrans" cxnId="{CF2846D3-8A8A-4D14-A80A-42A8744CE2AA}">
      <dgm:prSet/>
      <dgm:spPr/>
      <dgm:t>
        <a:bodyPr/>
        <a:lstStyle/>
        <a:p>
          <a:endParaRPr lang="pt-BR"/>
        </a:p>
      </dgm:t>
    </dgm:pt>
    <dgm:pt modelId="{240730E1-55E9-4D07-998A-F32363A9A4F3}" type="sibTrans" cxnId="{CF2846D3-8A8A-4D14-A80A-42A8744CE2AA}">
      <dgm:prSet/>
      <dgm:spPr/>
      <dgm:t>
        <a:bodyPr/>
        <a:lstStyle/>
        <a:p>
          <a:endParaRPr lang="pt-BR"/>
        </a:p>
      </dgm:t>
    </dgm:pt>
    <dgm:pt modelId="{FE7CB840-AAAD-4AB5-8CC1-DB2A5AAB0ACE}">
      <dgm:prSet phldrT="[Texto]" custT="1"/>
      <dgm:spPr/>
      <dgm:t>
        <a:bodyPr/>
        <a:lstStyle/>
        <a:p>
          <a:r>
            <a:rPr lang="pt-BR" sz="1800" b="1" dirty="0"/>
            <a:t>Definição ampla</a:t>
          </a:r>
          <a:endParaRPr lang="pt-BR" sz="1800" dirty="0"/>
        </a:p>
      </dgm:t>
    </dgm:pt>
    <dgm:pt modelId="{0A40EE42-58F5-4379-AE57-7EE90929944C}" type="parTrans" cxnId="{5064CD0C-394B-41D1-BB53-B8F21C893E88}">
      <dgm:prSet/>
      <dgm:spPr/>
      <dgm:t>
        <a:bodyPr/>
        <a:lstStyle/>
        <a:p>
          <a:endParaRPr lang="pt-BR"/>
        </a:p>
      </dgm:t>
    </dgm:pt>
    <dgm:pt modelId="{B24A4AF8-2327-4691-A5E3-D724A0E0DD9E}" type="sibTrans" cxnId="{5064CD0C-394B-41D1-BB53-B8F21C893E88}">
      <dgm:prSet/>
      <dgm:spPr/>
      <dgm:t>
        <a:bodyPr/>
        <a:lstStyle/>
        <a:p>
          <a:endParaRPr lang="pt-BR"/>
        </a:p>
      </dgm:t>
    </dgm:pt>
    <dgm:pt modelId="{DE969897-5DC2-4A42-AD01-7306F3F6D977}">
      <dgm:prSet phldrT="[Texto]" custT="1"/>
      <dgm:spPr/>
      <dgm:t>
        <a:bodyPr/>
        <a:lstStyle/>
        <a:p>
          <a:r>
            <a:rPr lang="pt-BR" sz="1800" dirty="0"/>
            <a:t>2</a:t>
          </a:r>
        </a:p>
      </dgm:t>
    </dgm:pt>
    <dgm:pt modelId="{E5CCBAD7-CA4F-4814-A865-4D3B87365A67}" type="parTrans" cxnId="{E4CD95CF-3222-482F-8F27-685AC7B43408}">
      <dgm:prSet/>
      <dgm:spPr/>
      <dgm:t>
        <a:bodyPr/>
        <a:lstStyle/>
        <a:p>
          <a:endParaRPr lang="pt-BR"/>
        </a:p>
      </dgm:t>
    </dgm:pt>
    <dgm:pt modelId="{2FD66A68-DED4-4D1E-A921-557DC8D4A671}" type="sibTrans" cxnId="{E4CD95CF-3222-482F-8F27-685AC7B43408}">
      <dgm:prSet/>
      <dgm:spPr/>
      <dgm:t>
        <a:bodyPr/>
        <a:lstStyle/>
        <a:p>
          <a:endParaRPr lang="pt-BR"/>
        </a:p>
      </dgm:t>
    </dgm:pt>
    <dgm:pt modelId="{786DC704-1DCB-4C7A-AD48-910AB1DA04E1}">
      <dgm:prSet phldrT="[Texto]" custT="1"/>
      <dgm:spPr/>
      <dgm:t>
        <a:bodyPr/>
        <a:lstStyle/>
        <a:p>
          <a:r>
            <a:rPr lang="pt-BR" sz="1800" b="1" dirty="0"/>
            <a:t>Definição específica	</a:t>
          </a:r>
          <a:endParaRPr lang="pt-BR" sz="1800" dirty="0"/>
        </a:p>
      </dgm:t>
    </dgm:pt>
    <dgm:pt modelId="{8D511B52-D424-40B2-92C3-DB8CC2A31430}" type="parTrans" cxnId="{CD33BFD4-072E-41DD-9F97-05DB91FA6DA0}">
      <dgm:prSet/>
      <dgm:spPr/>
      <dgm:t>
        <a:bodyPr/>
        <a:lstStyle/>
        <a:p>
          <a:endParaRPr lang="pt-BR"/>
        </a:p>
      </dgm:t>
    </dgm:pt>
    <dgm:pt modelId="{344674A0-6A35-4A69-9CA2-1E2B9AE10CA7}" type="sibTrans" cxnId="{CD33BFD4-072E-41DD-9F97-05DB91FA6DA0}">
      <dgm:prSet/>
      <dgm:spPr/>
      <dgm:t>
        <a:bodyPr/>
        <a:lstStyle/>
        <a:p>
          <a:endParaRPr lang="pt-BR"/>
        </a:p>
      </dgm:t>
    </dgm:pt>
    <dgm:pt modelId="{C7CB02AC-DE8D-47C8-BA6E-E07FF2291598}">
      <dgm:prSet phldrT="[Texto]" custT="1"/>
      <dgm:spPr/>
      <dgm:t>
        <a:bodyPr/>
        <a:lstStyle/>
        <a:p>
          <a:endParaRPr lang="pt-BR" sz="1800" dirty="0"/>
        </a:p>
      </dgm:t>
    </dgm:pt>
    <dgm:pt modelId="{078CEA10-75BD-412E-A4CB-CF503F083149}" type="parTrans" cxnId="{4BD11CED-39A9-420B-93BD-91C0015E9E99}">
      <dgm:prSet/>
      <dgm:spPr/>
      <dgm:t>
        <a:bodyPr/>
        <a:lstStyle/>
        <a:p>
          <a:endParaRPr lang="pt-BR"/>
        </a:p>
      </dgm:t>
    </dgm:pt>
    <dgm:pt modelId="{CE3F303D-B83F-4E05-90B2-F7EA61CDD6D2}" type="sibTrans" cxnId="{4BD11CED-39A9-420B-93BD-91C0015E9E99}">
      <dgm:prSet/>
      <dgm:spPr/>
      <dgm:t>
        <a:bodyPr/>
        <a:lstStyle/>
        <a:p>
          <a:endParaRPr lang="pt-BR"/>
        </a:p>
      </dgm:t>
    </dgm:pt>
    <dgm:pt modelId="{92DE43F9-73C3-4FDC-A43E-8B6F591C6DD1}" type="pres">
      <dgm:prSet presAssocID="{78BB31AB-9EDF-441B-BEBF-18D00CAA1087}" presName="linearFlow" presStyleCnt="0">
        <dgm:presLayoutVars>
          <dgm:dir/>
          <dgm:animLvl val="lvl"/>
          <dgm:resizeHandles val="exact"/>
        </dgm:presLayoutVars>
      </dgm:prSet>
      <dgm:spPr/>
    </dgm:pt>
    <dgm:pt modelId="{0A05D207-1535-424F-A138-F7149D97CA0C}" type="pres">
      <dgm:prSet presAssocID="{32A79325-8AF6-47C2-A990-A03F24185181}" presName="composite" presStyleCnt="0"/>
      <dgm:spPr/>
    </dgm:pt>
    <dgm:pt modelId="{BC151E34-2EC8-4880-AA81-F05BAB05737D}" type="pres">
      <dgm:prSet presAssocID="{32A79325-8AF6-47C2-A990-A03F24185181}" presName="parentText" presStyleLbl="alignNode1" presStyleIdx="0" presStyleCnt="2">
        <dgm:presLayoutVars>
          <dgm:chMax val="1"/>
          <dgm:bulletEnabled val="1"/>
        </dgm:presLayoutVars>
      </dgm:prSet>
      <dgm:spPr/>
    </dgm:pt>
    <dgm:pt modelId="{5C51DE25-513D-48B0-B5D8-A3A7B0688154}" type="pres">
      <dgm:prSet presAssocID="{32A79325-8AF6-47C2-A990-A03F24185181}" presName="descendantText" presStyleLbl="alignAcc1" presStyleIdx="0" presStyleCnt="2">
        <dgm:presLayoutVars>
          <dgm:bulletEnabled val="1"/>
        </dgm:presLayoutVars>
      </dgm:prSet>
      <dgm:spPr/>
    </dgm:pt>
    <dgm:pt modelId="{9F0D777E-93CB-4FD6-9D10-074A04237B7C}" type="pres">
      <dgm:prSet presAssocID="{240730E1-55E9-4D07-998A-F32363A9A4F3}" presName="sp" presStyleCnt="0"/>
      <dgm:spPr/>
    </dgm:pt>
    <dgm:pt modelId="{03A89090-59CE-4DB3-89AF-83BDE79DBDF4}" type="pres">
      <dgm:prSet presAssocID="{DE969897-5DC2-4A42-AD01-7306F3F6D977}" presName="composite" presStyleCnt="0"/>
      <dgm:spPr/>
    </dgm:pt>
    <dgm:pt modelId="{27B41E80-4261-4040-8168-99BDDA2655E3}" type="pres">
      <dgm:prSet presAssocID="{DE969897-5DC2-4A42-AD01-7306F3F6D977}" presName="parentText" presStyleLbl="alignNode1" presStyleIdx="1" presStyleCnt="2">
        <dgm:presLayoutVars>
          <dgm:chMax val="1"/>
          <dgm:bulletEnabled val="1"/>
        </dgm:presLayoutVars>
      </dgm:prSet>
      <dgm:spPr/>
    </dgm:pt>
    <dgm:pt modelId="{EAF5DBE2-2CFB-42F8-8475-229A1D948FEA}" type="pres">
      <dgm:prSet presAssocID="{DE969897-5DC2-4A42-AD01-7306F3F6D977}" presName="descendantText" presStyleLbl="alignAcc1" presStyleIdx="1" presStyleCnt="2">
        <dgm:presLayoutVars>
          <dgm:bulletEnabled val="1"/>
        </dgm:presLayoutVars>
      </dgm:prSet>
      <dgm:spPr/>
    </dgm:pt>
  </dgm:ptLst>
  <dgm:cxnLst>
    <dgm:cxn modelId="{5064CD0C-394B-41D1-BB53-B8F21C893E88}" srcId="{32A79325-8AF6-47C2-A990-A03F24185181}" destId="{FE7CB840-AAAD-4AB5-8CC1-DB2A5AAB0ACE}" srcOrd="0" destOrd="0" parTransId="{0A40EE42-58F5-4379-AE57-7EE90929944C}" sibTransId="{B24A4AF8-2327-4691-A5E3-D724A0E0DD9E}"/>
    <dgm:cxn modelId="{EEDC0013-4994-482B-917B-6990EA97960D}" type="presOf" srcId="{786DC704-1DCB-4C7A-AD48-910AB1DA04E1}" destId="{EAF5DBE2-2CFB-42F8-8475-229A1D948FEA}" srcOrd="0" destOrd="1" presId="urn:microsoft.com/office/officeart/2005/8/layout/chevron2"/>
    <dgm:cxn modelId="{5AED1274-B909-41C9-880C-082C7F7D3A90}" type="presOf" srcId="{FE7CB840-AAAD-4AB5-8CC1-DB2A5AAB0ACE}" destId="{5C51DE25-513D-48B0-B5D8-A3A7B0688154}" srcOrd="0" destOrd="0" presId="urn:microsoft.com/office/officeart/2005/8/layout/chevron2"/>
    <dgm:cxn modelId="{0FA18C55-7CCD-41AE-AE0B-2EF8B9605805}" type="presOf" srcId="{32A79325-8AF6-47C2-A990-A03F24185181}" destId="{BC151E34-2EC8-4880-AA81-F05BAB05737D}" srcOrd="0" destOrd="0" presId="urn:microsoft.com/office/officeart/2005/8/layout/chevron2"/>
    <dgm:cxn modelId="{E0B9EFB5-AAC8-4A52-959C-A116FE42A519}" type="presOf" srcId="{78BB31AB-9EDF-441B-BEBF-18D00CAA1087}" destId="{92DE43F9-73C3-4FDC-A43E-8B6F591C6DD1}" srcOrd="0" destOrd="0" presId="urn:microsoft.com/office/officeart/2005/8/layout/chevron2"/>
    <dgm:cxn modelId="{E4CD95CF-3222-482F-8F27-685AC7B43408}" srcId="{78BB31AB-9EDF-441B-BEBF-18D00CAA1087}" destId="{DE969897-5DC2-4A42-AD01-7306F3F6D977}" srcOrd="1" destOrd="0" parTransId="{E5CCBAD7-CA4F-4814-A865-4D3B87365A67}" sibTransId="{2FD66A68-DED4-4D1E-A921-557DC8D4A671}"/>
    <dgm:cxn modelId="{CAAAC1D2-9B89-4528-ADCC-082279A69D4B}" type="presOf" srcId="{C7CB02AC-DE8D-47C8-BA6E-E07FF2291598}" destId="{EAF5DBE2-2CFB-42F8-8475-229A1D948FEA}" srcOrd="0" destOrd="0" presId="urn:microsoft.com/office/officeart/2005/8/layout/chevron2"/>
    <dgm:cxn modelId="{CF2846D3-8A8A-4D14-A80A-42A8744CE2AA}" srcId="{78BB31AB-9EDF-441B-BEBF-18D00CAA1087}" destId="{32A79325-8AF6-47C2-A990-A03F24185181}" srcOrd="0" destOrd="0" parTransId="{3591EF21-D995-4189-9E0E-975A597AFBFF}" sibTransId="{240730E1-55E9-4D07-998A-F32363A9A4F3}"/>
    <dgm:cxn modelId="{CD33BFD4-072E-41DD-9F97-05DB91FA6DA0}" srcId="{DE969897-5DC2-4A42-AD01-7306F3F6D977}" destId="{786DC704-1DCB-4C7A-AD48-910AB1DA04E1}" srcOrd="1" destOrd="0" parTransId="{8D511B52-D424-40B2-92C3-DB8CC2A31430}" sibTransId="{344674A0-6A35-4A69-9CA2-1E2B9AE10CA7}"/>
    <dgm:cxn modelId="{4BD11CED-39A9-420B-93BD-91C0015E9E99}" srcId="{DE969897-5DC2-4A42-AD01-7306F3F6D977}" destId="{C7CB02AC-DE8D-47C8-BA6E-E07FF2291598}" srcOrd="0" destOrd="0" parTransId="{078CEA10-75BD-412E-A4CB-CF503F083149}" sibTransId="{CE3F303D-B83F-4E05-90B2-F7EA61CDD6D2}"/>
    <dgm:cxn modelId="{DFB929FA-3DF4-4721-AC48-5855A1DA1744}" type="presOf" srcId="{DE969897-5DC2-4A42-AD01-7306F3F6D977}" destId="{27B41E80-4261-4040-8168-99BDDA2655E3}" srcOrd="0" destOrd="0" presId="urn:microsoft.com/office/officeart/2005/8/layout/chevron2"/>
    <dgm:cxn modelId="{F236B6DB-4725-4374-BBBF-32E2D5814C4E}" type="presParOf" srcId="{92DE43F9-73C3-4FDC-A43E-8B6F591C6DD1}" destId="{0A05D207-1535-424F-A138-F7149D97CA0C}" srcOrd="0" destOrd="0" presId="urn:microsoft.com/office/officeart/2005/8/layout/chevron2"/>
    <dgm:cxn modelId="{727827C4-4FB5-4EF8-A696-3145DE83ECAD}" type="presParOf" srcId="{0A05D207-1535-424F-A138-F7149D97CA0C}" destId="{BC151E34-2EC8-4880-AA81-F05BAB05737D}" srcOrd="0" destOrd="0" presId="urn:microsoft.com/office/officeart/2005/8/layout/chevron2"/>
    <dgm:cxn modelId="{D68FE99C-AE6D-464D-9859-94F3C6AEDEEE}" type="presParOf" srcId="{0A05D207-1535-424F-A138-F7149D97CA0C}" destId="{5C51DE25-513D-48B0-B5D8-A3A7B0688154}" srcOrd="1" destOrd="0" presId="urn:microsoft.com/office/officeart/2005/8/layout/chevron2"/>
    <dgm:cxn modelId="{A52BA2B3-A7A2-4330-95B1-53EB7D808D0C}" type="presParOf" srcId="{92DE43F9-73C3-4FDC-A43E-8B6F591C6DD1}" destId="{9F0D777E-93CB-4FD6-9D10-074A04237B7C}" srcOrd="1" destOrd="0" presId="urn:microsoft.com/office/officeart/2005/8/layout/chevron2"/>
    <dgm:cxn modelId="{CC0C5035-71F6-47EF-BB92-28F6B35971C7}" type="presParOf" srcId="{92DE43F9-73C3-4FDC-A43E-8B6F591C6DD1}" destId="{03A89090-59CE-4DB3-89AF-83BDE79DBDF4}" srcOrd="2" destOrd="0" presId="urn:microsoft.com/office/officeart/2005/8/layout/chevron2"/>
    <dgm:cxn modelId="{B76F7AB7-5F72-4FB2-AAE7-4D0A8AD2D3FC}" type="presParOf" srcId="{03A89090-59CE-4DB3-89AF-83BDE79DBDF4}" destId="{27B41E80-4261-4040-8168-99BDDA2655E3}" srcOrd="0" destOrd="0" presId="urn:microsoft.com/office/officeart/2005/8/layout/chevron2"/>
    <dgm:cxn modelId="{0B7DA9E1-637F-4D66-A154-85C71224603E}" type="presParOf" srcId="{03A89090-59CE-4DB3-89AF-83BDE79DBDF4}" destId="{EAF5DBE2-2CFB-42F8-8475-229A1D948FEA}"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0DC7D56-E338-4827-BAD6-4C1A67F6580B}" type="doc">
      <dgm:prSet loTypeId="urn:microsoft.com/office/officeart/2005/8/layout/chevron2" loCatId="process" qsTypeId="urn:microsoft.com/office/officeart/2005/8/quickstyle/simple5" qsCatId="simple" csTypeId="urn:microsoft.com/office/officeart/2005/8/colors/accent0_2" csCatId="mainScheme" phldr="1"/>
      <dgm:spPr/>
      <dgm:t>
        <a:bodyPr/>
        <a:lstStyle/>
        <a:p>
          <a:endParaRPr lang="pt-BR"/>
        </a:p>
      </dgm:t>
    </dgm:pt>
    <dgm:pt modelId="{702AC0D9-46CD-4885-9A29-5BD54B4834C2}">
      <dgm:prSet custT="1"/>
      <dgm:spPr/>
      <dgm:t>
        <a:bodyPr/>
        <a:lstStyle/>
        <a:p>
          <a:pPr rtl="0"/>
          <a:r>
            <a:rPr lang="pt-BR" sz="1600" b="1" dirty="0"/>
            <a:t>3</a:t>
          </a:r>
        </a:p>
      </dgm:t>
    </dgm:pt>
    <dgm:pt modelId="{56465E62-1021-463B-BA3D-90064E5BA799}" type="parTrans" cxnId="{4CD41CB0-7886-40F8-B70D-873BD50CB55E}">
      <dgm:prSet/>
      <dgm:spPr/>
      <dgm:t>
        <a:bodyPr/>
        <a:lstStyle/>
        <a:p>
          <a:endParaRPr lang="pt-BR"/>
        </a:p>
      </dgm:t>
    </dgm:pt>
    <dgm:pt modelId="{6A50F3B5-0BE7-4772-9F43-90A774AAB9F5}" type="sibTrans" cxnId="{4CD41CB0-7886-40F8-B70D-873BD50CB55E}">
      <dgm:prSet/>
      <dgm:spPr/>
      <dgm:t>
        <a:bodyPr/>
        <a:lstStyle/>
        <a:p>
          <a:endParaRPr lang="pt-BR"/>
        </a:p>
      </dgm:t>
    </dgm:pt>
    <dgm:pt modelId="{CBE30D0A-557D-44A6-938C-2A3AD59A7E2D}">
      <dgm:prSet custT="1"/>
      <dgm:spPr/>
      <dgm:t>
        <a:bodyPr/>
        <a:lstStyle/>
        <a:p>
          <a:pPr rtl="0"/>
          <a:r>
            <a:rPr lang="pt-BR" sz="1600" b="1" dirty="0"/>
            <a:t>Afretamento a casco nu </a:t>
          </a:r>
        </a:p>
      </dgm:t>
    </dgm:pt>
    <dgm:pt modelId="{7F4BEE1D-3CCB-4E7C-A3EF-F6064FF146EB}" type="parTrans" cxnId="{AAFBAA41-9683-4713-AF4F-B5A90AC2EBCB}">
      <dgm:prSet/>
      <dgm:spPr/>
      <dgm:t>
        <a:bodyPr/>
        <a:lstStyle/>
        <a:p>
          <a:endParaRPr lang="pt-BR"/>
        </a:p>
      </dgm:t>
    </dgm:pt>
    <dgm:pt modelId="{5AC62E40-28A5-48AF-A892-95461027AA86}" type="sibTrans" cxnId="{AAFBAA41-9683-4713-AF4F-B5A90AC2EBCB}">
      <dgm:prSet/>
      <dgm:spPr/>
      <dgm:t>
        <a:bodyPr/>
        <a:lstStyle/>
        <a:p>
          <a:endParaRPr lang="pt-BR"/>
        </a:p>
      </dgm:t>
    </dgm:pt>
    <dgm:pt modelId="{C1A3872A-C35A-465D-8CCD-BB682B02ACA9}">
      <dgm:prSet custT="1"/>
      <dgm:spPr/>
      <dgm:t>
        <a:bodyPr/>
        <a:lstStyle/>
        <a:p>
          <a:pPr rtl="0"/>
          <a:r>
            <a:rPr lang="pt-BR" sz="1600" b="1" dirty="0"/>
            <a:t>4</a:t>
          </a:r>
        </a:p>
      </dgm:t>
    </dgm:pt>
    <dgm:pt modelId="{77468A18-DE66-43F4-9E55-C6279C3878EC}" type="parTrans" cxnId="{A6D67B11-3298-452E-8487-C3F46A928339}">
      <dgm:prSet/>
      <dgm:spPr/>
      <dgm:t>
        <a:bodyPr/>
        <a:lstStyle/>
        <a:p>
          <a:endParaRPr lang="pt-BR"/>
        </a:p>
      </dgm:t>
    </dgm:pt>
    <dgm:pt modelId="{E57C4C2D-A9BB-45AB-A099-116E532AA067}" type="sibTrans" cxnId="{A6D67B11-3298-452E-8487-C3F46A928339}">
      <dgm:prSet/>
      <dgm:spPr/>
      <dgm:t>
        <a:bodyPr/>
        <a:lstStyle/>
        <a:p>
          <a:endParaRPr lang="pt-BR"/>
        </a:p>
      </dgm:t>
    </dgm:pt>
    <dgm:pt modelId="{E431F2BF-79E0-47C9-B922-6C054349B140}">
      <dgm:prSet custT="1"/>
      <dgm:spPr/>
      <dgm:t>
        <a:bodyPr/>
        <a:lstStyle/>
        <a:p>
          <a:pPr rtl="0"/>
          <a:r>
            <a:rPr lang="pt-BR" sz="1600" b="1" dirty="0"/>
            <a:t>Afretamento por viagem (Voyage Charter)</a:t>
          </a:r>
        </a:p>
      </dgm:t>
    </dgm:pt>
    <dgm:pt modelId="{29CC2159-3D2A-4517-9EE4-4A22F63A83D1}" type="parTrans" cxnId="{F2B74FE1-2BC3-40C0-A77E-88F47C91482A}">
      <dgm:prSet/>
      <dgm:spPr/>
      <dgm:t>
        <a:bodyPr/>
        <a:lstStyle/>
        <a:p>
          <a:endParaRPr lang="pt-BR"/>
        </a:p>
      </dgm:t>
    </dgm:pt>
    <dgm:pt modelId="{654E0F28-F50B-4041-AE31-CB783A4159EC}" type="sibTrans" cxnId="{F2B74FE1-2BC3-40C0-A77E-88F47C91482A}">
      <dgm:prSet/>
      <dgm:spPr/>
      <dgm:t>
        <a:bodyPr/>
        <a:lstStyle/>
        <a:p>
          <a:endParaRPr lang="pt-BR"/>
        </a:p>
      </dgm:t>
    </dgm:pt>
    <dgm:pt modelId="{967EF370-239E-4914-98F8-0847AC8AE626}">
      <dgm:prSet custT="1"/>
      <dgm:spPr/>
      <dgm:t>
        <a:bodyPr/>
        <a:lstStyle/>
        <a:p>
          <a:pPr rtl="0"/>
          <a:r>
            <a:rPr lang="pt-BR" sz="1600" b="1" dirty="0"/>
            <a:t>5</a:t>
          </a:r>
        </a:p>
      </dgm:t>
    </dgm:pt>
    <dgm:pt modelId="{E372BC41-EEA0-45CB-A66D-2C497554888A}" type="parTrans" cxnId="{228EBC28-1396-4D62-BC1A-6E884F4EA18E}">
      <dgm:prSet/>
      <dgm:spPr/>
      <dgm:t>
        <a:bodyPr/>
        <a:lstStyle/>
        <a:p>
          <a:endParaRPr lang="pt-BR"/>
        </a:p>
      </dgm:t>
    </dgm:pt>
    <dgm:pt modelId="{549F2226-F7D8-41F9-ACA7-11712389CE05}" type="sibTrans" cxnId="{228EBC28-1396-4D62-BC1A-6E884F4EA18E}">
      <dgm:prSet/>
      <dgm:spPr/>
      <dgm:t>
        <a:bodyPr/>
        <a:lstStyle/>
        <a:p>
          <a:endParaRPr lang="pt-BR"/>
        </a:p>
      </dgm:t>
    </dgm:pt>
    <dgm:pt modelId="{3E6C674D-F720-47F6-84BE-C58881478C5F}">
      <dgm:prSet custT="1"/>
      <dgm:spPr/>
      <dgm:t>
        <a:bodyPr/>
        <a:lstStyle/>
        <a:p>
          <a:pPr rtl="0"/>
          <a:r>
            <a:rPr lang="pt-BR" sz="1600" b="1" dirty="0"/>
            <a:t>Afretamento por tempo (Time Charter)</a:t>
          </a:r>
        </a:p>
      </dgm:t>
    </dgm:pt>
    <dgm:pt modelId="{988026F5-0088-4694-B751-19DAD63A2E9F}" type="parTrans" cxnId="{A8B0E3CA-8181-4C58-A3C1-6DE4D63DC23C}">
      <dgm:prSet/>
      <dgm:spPr/>
      <dgm:t>
        <a:bodyPr/>
        <a:lstStyle/>
        <a:p>
          <a:endParaRPr lang="pt-BR"/>
        </a:p>
      </dgm:t>
    </dgm:pt>
    <dgm:pt modelId="{A2F5CCF9-6D83-4D94-B47D-33EEB59AF186}" type="sibTrans" cxnId="{A8B0E3CA-8181-4C58-A3C1-6DE4D63DC23C}">
      <dgm:prSet/>
      <dgm:spPr/>
      <dgm:t>
        <a:bodyPr/>
        <a:lstStyle/>
        <a:p>
          <a:endParaRPr lang="pt-BR"/>
        </a:p>
      </dgm:t>
    </dgm:pt>
    <dgm:pt modelId="{0B589337-7EAA-47DA-8C38-8661E8A473A8}" type="pres">
      <dgm:prSet presAssocID="{80DC7D56-E338-4827-BAD6-4C1A67F6580B}" presName="linearFlow" presStyleCnt="0">
        <dgm:presLayoutVars>
          <dgm:dir/>
          <dgm:animLvl val="lvl"/>
          <dgm:resizeHandles val="exact"/>
        </dgm:presLayoutVars>
      </dgm:prSet>
      <dgm:spPr/>
    </dgm:pt>
    <dgm:pt modelId="{A1D6DC95-6921-4038-8ED6-11279002B7EA}" type="pres">
      <dgm:prSet presAssocID="{702AC0D9-46CD-4885-9A29-5BD54B4834C2}" presName="composite" presStyleCnt="0"/>
      <dgm:spPr/>
    </dgm:pt>
    <dgm:pt modelId="{536653B4-D338-40ED-AEAC-A9163FEF0912}" type="pres">
      <dgm:prSet presAssocID="{702AC0D9-46CD-4885-9A29-5BD54B4834C2}" presName="parentText" presStyleLbl="alignNode1" presStyleIdx="0" presStyleCnt="3">
        <dgm:presLayoutVars>
          <dgm:chMax val="1"/>
          <dgm:bulletEnabled val="1"/>
        </dgm:presLayoutVars>
      </dgm:prSet>
      <dgm:spPr/>
    </dgm:pt>
    <dgm:pt modelId="{E92AA5C0-80A0-4C53-A220-2ED115C74297}" type="pres">
      <dgm:prSet presAssocID="{702AC0D9-46CD-4885-9A29-5BD54B4834C2}" presName="descendantText" presStyleLbl="alignAcc1" presStyleIdx="0" presStyleCnt="3">
        <dgm:presLayoutVars>
          <dgm:bulletEnabled val="1"/>
        </dgm:presLayoutVars>
      </dgm:prSet>
      <dgm:spPr/>
    </dgm:pt>
    <dgm:pt modelId="{8C12B270-F383-4489-AC6F-F22AF36553E9}" type="pres">
      <dgm:prSet presAssocID="{6A50F3B5-0BE7-4772-9F43-90A774AAB9F5}" presName="sp" presStyleCnt="0"/>
      <dgm:spPr/>
    </dgm:pt>
    <dgm:pt modelId="{1947DB3A-2C39-42ED-BAEB-8F9D4CB00405}" type="pres">
      <dgm:prSet presAssocID="{C1A3872A-C35A-465D-8CCD-BB682B02ACA9}" presName="composite" presStyleCnt="0"/>
      <dgm:spPr/>
    </dgm:pt>
    <dgm:pt modelId="{54BF4A9C-D565-405C-80E4-B816AFA0FCE3}" type="pres">
      <dgm:prSet presAssocID="{C1A3872A-C35A-465D-8CCD-BB682B02ACA9}" presName="parentText" presStyleLbl="alignNode1" presStyleIdx="1" presStyleCnt="3">
        <dgm:presLayoutVars>
          <dgm:chMax val="1"/>
          <dgm:bulletEnabled val="1"/>
        </dgm:presLayoutVars>
      </dgm:prSet>
      <dgm:spPr/>
    </dgm:pt>
    <dgm:pt modelId="{6739402B-518B-4D13-8E54-ED7BFAADE28D}" type="pres">
      <dgm:prSet presAssocID="{C1A3872A-C35A-465D-8CCD-BB682B02ACA9}" presName="descendantText" presStyleLbl="alignAcc1" presStyleIdx="1" presStyleCnt="3">
        <dgm:presLayoutVars>
          <dgm:bulletEnabled val="1"/>
        </dgm:presLayoutVars>
      </dgm:prSet>
      <dgm:spPr/>
    </dgm:pt>
    <dgm:pt modelId="{D8D1A802-7070-4BB9-85F2-7EFC7E48C801}" type="pres">
      <dgm:prSet presAssocID="{E57C4C2D-A9BB-45AB-A099-116E532AA067}" presName="sp" presStyleCnt="0"/>
      <dgm:spPr/>
    </dgm:pt>
    <dgm:pt modelId="{F5D6F892-750D-4C49-91C7-EC8722195CAF}" type="pres">
      <dgm:prSet presAssocID="{967EF370-239E-4914-98F8-0847AC8AE626}" presName="composite" presStyleCnt="0"/>
      <dgm:spPr/>
    </dgm:pt>
    <dgm:pt modelId="{198C529B-9ACC-4BF1-8DD4-F7BCB2DBAE48}" type="pres">
      <dgm:prSet presAssocID="{967EF370-239E-4914-98F8-0847AC8AE626}" presName="parentText" presStyleLbl="alignNode1" presStyleIdx="2" presStyleCnt="3">
        <dgm:presLayoutVars>
          <dgm:chMax val="1"/>
          <dgm:bulletEnabled val="1"/>
        </dgm:presLayoutVars>
      </dgm:prSet>
      <dgm:spPr/>
    </dgm:pt>
    <dgm:pt modelId="{8AE5D743-06A5-4171-82DB-4C46CC98B710}" type="pres">
      <dgm:prSet presAssocID="{967EF370-239E-4914-98F8-0847AC8AE626}" presName="descendantText" presStyleLbl="alignAcc1" presStyleIdx="2" presStyleCnt="3">
        <dgm:presLayoutVars>
          <dgm:bulletEnabled val="1"/>
        </dgm:presLayoutVars>
      </dgm:prSet>
      <dgm:spPr/>
    </dgm:pt>
  </dgm:ptLst>
  <dgm:cxnLst>
    <dgm:cxn modelId="{A6D67B11-3298-452E-8487-C3F46A928339}" srcId="{80DC7D56-E338-4827-BAD6-4C1A67F6580B}" destId="{C1A3872A-C35A-465D-8CCD-BB682B02ACA9}" srcOrd="1" destOrd="0" parTransId="{77468A18-DE66-43F4-9E55-C6279C3878EC}" sibTransId="{E57C4C2D-A9BB-45AB-A099-116E532AA067}"/>
    <dgm:cxn modelId="{228EBC28-1396-4D62-BC1A-6E884F4EA18E}" srcId="{80DC7D56-E338-4827-BAD6-4C1A67F6580B}" destId="{967EF370-239E-4914-98F8-0847AC8AE626}" srcOrd="2" destOrd="0" parTransId="{E372BC41-EEA0-45CB-A66D-2C497554888A}" sibTransId="{549F2226-F7D8-41F9-ACA7-11712389CE05}"/>
    <dgm:cxn modelId="{58D58D5C-76D0-4A3A-BC61-B75BEF1D9AE3}" type="presOf" srcId="{CBE30D0A-557D-44A6-938C-2A3AD59A7E2D}" destId="{E92AA5C0-80A0-4C53-A220-2ED115C74297}" srcOrd="0" destOrd="0" presId="urn:microsoft.com/office/officeart/2005/8/layout/chevron2"/>
    <dgm:cxn modelId="{AAFBAA41-9683-4713-AF4F-B5A90AC2EBCB}" srcId="{702AC0D9-46CD-4885-9A29-5BD54B4834C2}" destId="{CBE30D0A-557D-44A6-938C-2A3AD59A7E2D}" srcOrd="0" destOrd="0" parTransId="{7F4BEE1D-3CCB-4E7C-A3EF-F6064FF146EB}" sibTransId="{5AC62E40-28A5-48AF-A892-95461027AA86}"/>
    <dgm:cxn modelId="{3E41C048-DFF0-46C7-A19F-DD575A22548E}" type="presOf" srcId="{C1A3872A-C35A-465D-8CCD-BB682B02ACA9}" destId="{54BF4A9C-D565-405C-80E4-B816AFA0FCE3}" srcOrd="0" destOrd="0" presId="urn:microsoft.com/office/officeart/2005/8/layout/chevron2"/>
    <dgm:cxn modelId="{FFAEB34B-77AC-4FEB-9A55-9C742F922677}" type="presOf" srcId="{3E6C674D-F720-47F6-84BE-C58881478C5F}" destId="{8AE5D743-06A5-4171-82DB-4C46CC98B710}" srcOrd="0" destOrd="0" presId="urn:microsoft.com/office/officeart/2005/8/layout/chevron2"/>
    <dgm:cxn modelId="{3D458F8A-65AC-4208-8CD7-E4B12D0C5E70}" type="presOf" srcId="{967EF370-239E-4914-98F8-0847AC8AE626}" destId="{198C529B-9ACC-4BF1-8DD4-F7BCB2DBAE48}" srcOrd="0" destOrd="0" presId="urn:microsoft.com/office/officeart/2005/8/layout/chevron2"/>
    <dgm:cxn modelId="{AD3FB397-96C2-459E-AFFA-A67D2EF09169}" type="presOf" srcId="{80DC7D56-E338-4827-BAD6-4C1A67F6580B}" destId="{0B589337-7EAA-47DA-8C38-8661E8A473A8}" srcOrd="0" destOrd="0" presId="urn:microsoft.com/office/officeart/2005/8/layout/chevron2"/>
    <dgm:cxn modelId="{494CB9AB-C245-45B0-A3D3-07C38C3AB4F8}" type="presOf" srcId="{702AC0D9-46CD-4885-9A29-5BD54B4834C2}" destId="{536653B4-D338-40ED-AEAC-A9163FEF0912}" srcOrd="0" destOrd="0" presId="urn:microsoft.com/office/officeart/2005/8/layout/chevron2"/>
    <dgm:cxn modelId="{4CD41CB0-7886-40F8-B70D-873BD50CB55E}" srcId="{80DC7D56-E338-4827-BAD6-4C1A67F6580B}" destId="{702AC0D9-46CD-4885-9A29-5BD54B4834C2}" srcOrd="0" destOrd="0" parTransId="{56465E62-1021-463B-BA3D-90064E5BA799}" sibTransId="{6A50F3B5-0BE7-4772-9F43-90A774AAB9F5}"/>
    <dgm:cxn modelId="{A8B0E3CA-8181-4C58-A3C1-6DE4D63DC23C}" srcId="{967EF370-239E-4914-98F8-0847AC8AE626}" destId="{3E6C674D-F720-47F6-84BE-C58881478C5F}" srcOrd="0" destOrd="0" parTransId="{988026F5-0088-4694-B751-19DAD63A2E9F}" sibTransId="{A2F5CCF9-6D83-4D94-B47D-33EEB59AF186}"/>
    <dgm:cxn modelId="{F2B74FE1-2BC3-40C0-A77E-88F47C91482A}" srcId="{C1A3872A-C35A-465D-8CCD-BB682B02ACA9}" destId="{E431F2BF-79E0-47C9-B922-6C054349B140}" srcOrd="0" destOrd="0" parTransId="{29CC2159-3D2A-4517-9EE4-4A22F63A83D1}" sibTransId="{654E0F28-F50B-4041-AE31-CB783A4159EC}"/>
    <dgm:cxn modelId="{71BD1BF2-99E8-4A94-8DF4-8B9EE0B88E6C}" type="presOf" srcId="{E431F2BF-79E0-47C9-B922-6C054349B140}" destId="{6739402B-518B-4D13-8E54-ED7BFAADE28D}" srcOrd="0" destOrd="0" presId="urn:microsoft.com/office/officeart/2005/8/layout/chevron2"/>
    <dgm:cxn modelId="{BD85BB5D-BBEF-48F6-BA7C-203018891663}" type="presParOf" srcId="{0B589337-7EAA-47DA-8C38-8661E8A473A8}" destId="{A1D6DC95-6921-4038-8ED6-11279002B7EA}" srcOrd="0" destOrd="0" presId="urn:microsoft.com/office/officeart/2005/8/layout/chevron2"/>
    <dgm:cxn modelId="{2EABE11E-8AF4-4E51-A4C3-E1817B5343EF}" type="presParOf" srcId="{A1D6DC95-6921-4038-8ED6-11279002B7EA}" destId="{536653B4-D338-40ED-AEAC-A9163FEF0912}" srcOrd="0" destOrd="0" presId="urn:microsoft.com/office/officeart/2005/8/layout/chevron2"/>
    <dgm:cxn modelId="{A13557AA-8185-49DF-83F1-98649055A3A5}" type="presParOf" srcId="{A1D6DC95-6921-4038-8ED6-11279002B7EA}" destId="{E92AA5C0-80A0-4C53-A220-2ED115C74297}" srcOrd="1" destOrd="0" presId="urn:microsoft.com/office/officeart/2005/8/layout/chevron2"/>
    <dgm:cxn modelId="{40971714-EED5-4D97-8268-837B961EED59}" type="presParOf" srcId="{0B589337-7EAA-47DA-8C38-8661E8A473A8}" destId="{8C12B270-F383-4489-AC6F-F22AF36553E9}" srcOrd="1" destOrd="0" presId="urn:microsoft.com/office/officeart/2005/8/layout/chevron2"/>
    <dgm:cxn modelId="{7ED3484E-56E3-415D-B22B-EAC3D68B4072}" type="presParOf" srcId="{0B589337-7EAA-47DA-8C38-8661E8A473A8}" destId="{1947DB3A-2C39-42ED-BAEB-8F9D4CB00405}" srcOrd="2" destOrd="0" presId="urn:microsoft.com/office/officeart/2005/8/layout/chevron2"/>
    <dgm:cxn modelId="{51C20FB4-8B35-44DE-8E69-46D6B08C0FF3}" type="presParOf" srcId="{1947DB3A-2C39-42ED-BAEB-8F9D4CB00405}" destId="{54BF4A9C-D565-405C-80E4-B816AFA0FCE3}" srcOrd="0" destOrd="0" presId="urn:microsoft.com/office/officeart/2005/8/layout/chevron2"/>
    <dgm:cxn modelId="{14DAA428-FA15-49E1-A7D4-1B4F9DE58943}" type="presParOf" srcId="{1947DB3A-2C39-42ED-BAEB-8F9D4CB00405}" destId="{6739402B-518B-4D13-8E54-ED7BFAADE28D}" srcOrd="1" destOrd="0" presId="urn:microsoft.com/office/officeart/2005/8/layout/chevron2"/>
    <dgm:cxn modelId="{C6EF431A-7176-453F-980A-49594637D798}" type="presParOf" srcId="{0B589337-7EAA-47DA-8C38-8661E8A473A8}" destId="{D8D1A802-7070-4BB9-85F2-7EFC7E48C801}" srcOrd="3" destOrd="0" presId="urn:microsoft.com/office/officeart/2005/8/layout/chevron2"/>
    <dgm:cxn modelId="{5B0A71BF-70E8-4163-B7B4-421F807D1A30}" type="presParOf" srcId="{0B589337-7EAA-47DA-8C38-8661E8A473A8}" destId="{F5D6F892-750D-4C49-91C7-EC8722195CAF}" srcOrd="4" destOrd="0" presId="urn:microsoft.com/office/officeart/2005/8/layout/chevron2"/>
    <dgm:cxn modelId="{28A7434C-81EE-417F-892D-A0F03A4AB1AA}" type="presParOf" srcId="{F5D6F892-750D-4C49-91C7-EC8722195CAF}" destId="{198C529B-9ACC-4BF1-8DD4-F7BCB2DBAE48}" srcOrd="0" destOrd="0" presId="urn:microsoft.com/office/officeart/2005/8/layout/chevron2"/>
    <dgm:cxn modelId="{278D477C-26FC-4953-8BFF-7EF2148A2328}" type="presParOf" srcId="{F5D6F892-750D-4C49-91C7-EC8722195CAF}" destId="{8AE5D743-06A5-4171-82DB-4C46CC98B71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151E34-2EC8-4880-AA81-F05BAB05737D}">
      <dsp:nvSpPr>
        <dsp:cNvPr id="0" name=""/>
        <dsp:cNvSpPr/>
      </dsp:nvSpPr>
      <dsp:spPr>
        <a:xfrm rot="5400000">
          <a:off x="-156056" y="157482"/>
          <a:ext cx="1040376" cy="728263"/>
        </a:xfrm>
        <a:prstGeom prst="chevron">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w="9525" cap="flat" cmpd="sng" algn="ctr">
          <a:solidFill>
            <a:schemeClr val="dk2">
              <a:shade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pt-BR" sz="1800" kern="1200" dirty="0"/>
            <a:t>1</a:t>
          </a:r>
        </a:p>
      </dsp:txBody>
      <dsp:txXfrm rot="-5400000">
        <a:off x="1" y="365558"/>
        <a:ext cx="728263" cy="312113"/>
      </dsp:txXfrm>
    </dsp:sp>
    <dsp:sp modelId="{5C51DE25-513D-48B0-B5D8-A3A7B0688154}">
      <dsp:nvSpPr>
        <dsp:cNvPr id="0" name=""/>
        <dsp:cNvSpPr/>
      </dsp:nvSpPr>
      <dsp:spPr>
        <a:xfrm rot="5400000">
          <a:off x="1083277" y="-353587"/>
          <a:ext cx="676244" cy="1386272"/>
        </a:xfrm>
        <a:prstGeom prst="round2SameRect">
          <a:avLst/>
        </a:prstGeom>
        <a:solidFill>
          <a:schemeClr val="dk2">
            <a:alpha val="90000"/>
            <a:tint val="4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pt-BR" sz="1800" b="1" kern="1200" dirty="0"/>
            <a:t>Definição ampla</a:t>
          </a:r>
          <a:endParaRPr lang="pt-BR" sz="1800" kern="1200" dirty="0"/>
        </a:p>
      </dsp:txBody>
      <dsp:txXfrm rot="-5400000">
        <a:off x="728263" y="34439"/>
        <a:ext cx="1353260" cy="610220"/>
      </dsp:txXfrm>
    </dsp:sp>
    <dsp:sp modelId="{27B41E80-4261-4040-8168-99BDDA2655E3}">
      <dsp:nvSpPr>
        <dsp:cNvPr id="0" name=""/>
        <dsp:cNvSpPr/>
      </dsp:nvSpPr>
      <dsp:spPr>
        <a:xfrm rot="5400000">
          <a:off x="-156056" y="882722"/>
          <a:ext cx="1040376" cy="728263"/>
        </a:xfrm>
        <a:prstGeom prst="chevron">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w="9525" cap="flat" cmpd="sng" algn="ctr">
          <a:solidFill>
            <a:schemeClr val="dk2">
              <a:shade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pt-BR" sz="1800" kern="1200" dirty="0"/>
            <a:t>2</a:t>
          </a:r>
        </a:p>
      </dsp:txBody>
      <dsp:txXfrm rot="-5400000">
        <a:off x="1" y="1090798"/>
        <a:ext cx="728263" cy="312113"/>
      </dsp:txXfrm>
    </dsp:sp>
    <dsp:sp modelId="{EAF5DBE2-2CFB-42F8-8475-229A1D948FEA}">
      <dsp:nvSpPr>
        <dsp:cNvPr id="0" name=""/>
        <dsp:cNvSpPr/>
      </dsp:nvSpPr>
      <dsp:spPr>
        <a:xfrm rot="5400000">
          <a:off x="1083277" y="371652"/>
          <a:ext cx="676244" cy="1386272"/>
        </a:xfrm>
        <a:prstGeom prst="round2SameRect">
          <a:avLst/>
        </a:prstGeom>
        <a:solidFill>
          <a:schemeClr val="dk2">
            <a:alpha val="90000"/>
            <a:tint val="4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endParaRPr lang="pt-BR" sz="1800" kern="1200" dirty="0"/>
        </a:p>
        <a:p>
          <a:pPr marL="171450" lvl="1" indent="-171450" algn="l" defTabSz="800100">
            <a:lnSpc>
              <a:spcPct val="90000"/>
            </a:lnSpc>
            <a:spcBef>
              <a:spcPct val="0"/>
            </a:spcBef>
            <a:spcAft>
              <a:spcPct val="15000"/>
            </a:spcAft>
            <a:buChar char="•"/>
          </a:pPr>
          <a:r>
            <a:rPr lang="pt-BR" sz="1800" b="1" kern="1200" dirty="0"/>
            <a:t>Definição específica	</a:t>
          </a:r>
          <a:endParaRPr lang="pt-BR" sz="1800" kern="1200" dirty="0"/>
        </a:p>
      </dsp:txBody>
      <dsp:txXfrm rot="-5400000">
        <a:off x="728263" y="759678"/>
        <a:ext cx="1353260" cy="6102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6653B4-D338-40ED-AEAC-A9163FEF0912}">
      <dsp:nvSpPr>
        <dsp:cNvPr id="0" name=""/>
        <dsp:cNvSpPr/>
      </dsp:nvSpPr>
      <dsp:spPr>
        <a:xfrm rot="5400000">
          <a:off x="-135450" y="135535"/>
          <a:ext cx="903002" cy="632101"/>
        </a:xfrm>
        <a:prstGeom prst="chevron">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w="9525" cap="flat" cmpd="sng" algn="ctr">
          <a:solidFill>
            <a:schemeClr val="dk2">
              <a:shade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pt-BR" sz="1600" b="1" kern="1200" dirty="0"/>
            <a:t>3</a:t>
          </a:r>
        </a:p>
      </dsp:txBody>
      <dsp:txXfrm rot="-5400000">
        <a:off x="1" y="316136"/>
        <a:ext cx="632101" cy="270901"/>
      </dsp:txXfrm>
    </dsp:sp>
    <dsp:sp modelId="{E92AA5C0-80A0-4C53-A220-2ED115C74297}">
      <dsp:nvSpPr>
        <dsp:cNvPr id="0" name=""/>
        <dsp:cNvSpPr/>
      </dsp:nvSpPr>
      <dsp:spPr>
        <a:xfrm rot="5400000">
          <a:off x="2129996" y="-1497809"/>
          <a:ext cx="586951" cy="3582740"/>
        </a:xfrm>
        <a:prstGeom prst="round2SameRect">
          <a:avLst/>
        </a:prstGeom>
        <a:solidFill>
          <a:schemeClr val="dk2">
            <a:alpha val="90000"/>
            <a:tint val="4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rtl="0">
            <a:lnSpc>
              <a:spcPct val="90000"/>
            </a:lnSpc>
            <a:spcBef>
              <a:spcPct val="0"/>
            </a:spcBef>
            <a:spcAft>
              <a:spcPct val="15000"/>
            </a:spcAft>
            <a:buChar char="•"/>
          </a:pPr>
          <a:r>
            <a:rPr lang="pt-BR" sz="1600" b="1" kern="1200" dirty="0"/>
            <a:t>Afretamento a casco nu </a:t>
          </a:r>
        </a:p>
      </dsp:txBody>
      <dsp:txXfrm rot="-5400000">
        <a:off x="632102" y="28738"/>
        <a:ext cx="3554087" cy="529645"/>
      </dsp:txXfrm>
    </dsp:sp>
    <dsp:sp modelId="{54BF4A9C-D565-405C-80E4-B816AFA0FCE3}">
      <dsp:nvSpPr>
        <dsp:cNvPr id="0" name=""/>
        <dsp:cNvSpPr/>
      </dsp:nvSpPr>
      <dsp:spPr>
        <a:xfrm rot="5400000">
          <a:off x="-135450" y="826933"/>
          <a:ext cx="903002" cy="632101"/>
        </a:xfrm>
        <a:prstGeom prst="chevron">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w="9525" cap="flat" cmpd="sng" algn="ctr">
          <a:solidFill>
            <a:schemeClr val="dk2">
              <a:shade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pt-BR" sz="1600" b="1" kern="1200" dirty="0"/>
            <a:t>4</a:t>
          </a:r>
        </a:p>
      </dsp:txBody>
      <dsp:txXfrm rot="-5400000">
        <a:off x="1" y="1007534"/>
        <a:ext cx="632101" cy="270901"/>
      </dsp:txXfrm>
    </dsp:sp>
    <dsp:sp modelId="{6739402B-518B-4D13-8E54-ED7BFAADE28D}">
      <dsp:nvSpPr>
        <dsp:cNvPr id="0" name=""/>
        <dsp:cNvSpPr/>
      </dsp:nvSpPr>
      <dsp:spPr>
        <a:xfrm rot="5400000">
          <a:off x="2129996" y="-806411"/>
          <a:ext cx="586951" cy="3582740"/>
        </a:xfrm>
        <a:prstGeom prst="round2SameRect">
          <a:avLst/>
        </a:prstGeom>
        <a:solidFill>
          <a:schemeClr val="dk2">
            <a:alpha val="90000"/>
            <a:tint val="4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rtl="0">
            <a:lnSpc>
              <a:spcPct val="90000"/>
            </a:lnSpc>
            <a:spcBef>
              <a:spcPct val="0"/>
            </a:spcBef>
            <a:spcAft>
              <a:spcPct val="15000"/>
            </a:spcAft>
            <a:buChar char="•"/>
          </a:pPr>
          <a:r>
            <a:rPr lang="pt-BR" sz="1600" b="1" kern="1200" dirty="0"/>
            <a:t>Afretamento por viagem (Voyage Charter)</a:t>
          </a:r>
        </a:p>
      </dsp:txBody>
      <dsp:txXfrm rot="-5400000">
        <a:off x="632102" y="720136"/>
        <a:ext cx="3554087" cy="529645"/>
      </dsp:txXfrm>
    </dsp:sp>
    <dsp:sp modelId="{198C529B-9ACC-4BF1-8DD4-F7BCB2DBAE48}">
      <dsp:nvSpPr>
        <dsp:cNvPr id="0" name=""/>
        <dsp:cNvSpPr/>
      </dsp:nvSpPr>
      <dsp:spPr>
        <a:xfrm rot="5400000">
          <a:off x="-135450" y="1518331"/>
          <a:ext cx="903002" cy="632101"/>
        </a:xfrm>
        <a:prstGeom prst="chevron">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w="9525" cap="flat" cmpd="sng" algn="ctr">
          <a:solidFill>
            <a:schemeClr val="dk2">
              <a:shade val="8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pt-BR" sz="1600" b="1" kern="1200" dirty="0"/>
            <a:t>5</a:t>
          </a:r>
        </a:p>
      </dsp:txBody>
      <dsp:txXfrm rot="-5400000">
        <a:off x="1" y="1698932"/>
        <a:ext cx="632101" cy="270901"/>
      </dsp:txXfrm>
    </dsp:sp>
    <dsp:sp modelId="{8AE5D743-06A5-4171-82DB-4C46CC98B710}">
      <dsp:nvSpPr>
        <dsp:cNvPr id="0" name=""/>
        <dsp:cNvSpPr/>
      </dsp:nvSpPr>
      <dsp:spPr>
        <a:xfrm rot="5400000">
          <a:off x="2129996" y="-115013"/>
          <a:ext cx="586951" cy="3582740"/>
        </a:xfrm>
        <a:prstGeom prst="round2SameRect">
          <a:avLst/>
        </a:prstGeom>
        <a:solidFill>
          <a:schemeClr val="dk2">
            <a:alpha val="90000"/>
            <a:tint val="4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rtl="0">
            <a:lnSpc>
              <a:spcPct val="90000"/>
            </a:lnSpc>
            <a:spcBef>
              <a:spcPct val="0"/>
            </a:spcBef>
            <a:spcAft>
              <a:spcPct val="15000"/>
            </a:spcAft>
            <a:buChar char="•"/>
          </a:pPr>
          <a:r>
            <a:rPr lang="pt-BR" sz="1600" b="1" kern="1200" dirty="0"/>
            <a:t>Afretamento por tempo (Time Charter)</a:t>
          </a:r>
        </a:p>
      </dsp:txBody>
      <dsp:txXfrm rot="-5400000">
        <a:off x="632102" y="1411534"/>
        <a:ext cx="3554087" cy="52964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DC1C97-EFCE-4C07-B227-C27C5F1AC8B4}" type="datetimeFigureOut">
              <a:rPr lang="pt-BR" smtClean="0"/>
              <a:pPr/>
              <a:t>20/04/2020</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E127AF-0322-421A-A12F-5AB970DF05C7}" type="slidenum">
              <a:rPr lang="pt-BR" smtClean="0"/>
              <a:pPr/>
              <a:t>‹nº›</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1</a:t>
            </a:fld>
            <a:endParaRPr lang="pt-B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2</a:t>
            </a:fld>
            <a:endParaRPr 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3</a:t>
            </a:fld>
            <a:endParaRPr lang="pt-B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4</a:t>
            </a:fld>
            <a:endParaRPr lang="pt-B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5</a:t>
            </a:fld>
            <a:endParaRPr lang="pt-B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6</a:t>
            </a:fld>
            <a:endParaRPr lang="pt-B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7</a:t>
            </a:fld>
            <a:endParaRPr lang="pt-B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8</a:t>
            </a:fld>
            <a:endParaRPr lang="pt-B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9</a:t>
            </a:fld>
            <a:endParaRPr lang="pt-B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10</a:t>
            </a:fld>
            <a:endParaRPr lang="pt-B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11</a:t>
            </a:fld>
            <a:endParaRPr lang="pt-B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12</a:t>
            </a:fld>
            <a:endParaRPr lang="pt-B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13</a:t>
            </a:fld>
            <a:endParaRPr lang="pt-B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14</a:t>
            </a:fld>
            <a:endParaRPr lang="pt-B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a:p>
        </p:txBody>
      </p:sp>
      <p:sp>
        <p:nvSpPr>
          <p:cNvPr id="4" name="Espaço Reservado para Número de Slide 3"/>
          <p:cNvSpPr>
            <a:spLocks noGrp="1"/>
          </p:cNvSpPr>
          <p:nvPr>
            <p:ph type="sldNum" sz="quarter" idx="10"/>
          </p:nvPr>
        </p:nvSpPr>
        <p:spPr/>
        <p:txBody>
          <a:bodyPr/>
          <a:lstStyle/>
          <a:p>
            <a:fld id="{31E127AF-0322-421A-A12F-5AB970DF05C7}" type="slidenum">
              <a:rPr lang="pt-BR" smtClean="0"/>
              <a:pPr/>
              <a:t>15</a:t>
            </a:fld>
            <a:endParaRPr lang="pt-B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16896A2D-B608-424F-B04D-E1C940EA7043}"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5585876-37BC-4A19-ADF9-329690B088AF}"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16896A2D-B608-424F-B04D-E1C940EA7043}"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5585876-37BC-4A19-ADF9-329690B088AF}"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p:cNvSpPr>
            <a:spLocks noGrp="1"/>
          </p:cNvSpPr>
          <p:nvPr>
            <p:ph type="dt" sz="half" idx="10"/>
          </p:nvPr>
        </p:nvSpPr>
        <p:spPr/>
        <p:txBody>
          <a:bodyPr/>
          <a:lstStyle/>
          <a:p>
            <a:fld id="{16896A2D-B608-424F-B04D-E1C940EA7043}"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5585876-37BC-4A19-ADF9-329690B088AF}" type="slidenum">
              <a:rPr lang="pt-BR" smtClean="0"/>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16896A2D-B608-424F-B04D-E1C940EA7043}" type="datetimeFigureOut">
              <a:rPr lang="pt-BR" smtClean="0"/>
              <a:pPr/>
              <a:t>20/04/2020</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5585876-37BC-4A19-ADF9-329690B088AF}"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16896A2D-B608-424F-B04D-E1C940EA7043}" type="datetimeFigureOut">
              <a:rPr lang="pt-BR" smtClean="0"/>
              <a:pPr/>
              <a:t>20/04/2020</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5585876-37BC-4A19-ADF9-329690B088AF}"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2"/>
          <p:cNvSpPr>
            <a:spLocks noGrp="1"/>
          </p:cNvSpPr>
          <p:nvPr>
            <p:ph type="dt" sz="half" idx="10"/>
          </p:nvPr>
        </p:nvSpPr>
        <p:spPr/>
        <p:txBody>
          <a:bodyPr/>
          <a:lstStyle/>
          <a:p>
            <a:fld id="{16896A2D-B608-424F-B04D-E1C940EA7043}" type="datetimeFigureOut">
              <a:rPr lang="pt-BR" smtClean="0"/>
              <a:pPr/>
              <a:t>20/04/2020</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75585876-37BC-4A19-ADF9-329690B088AF}"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6896A2D-B608-424F-B04D-E1C940EA7043}" type="datetimeFigureOut">
              <a:rPr lang="pt-BR" smtClean="0"/>
              <a:pPr/>
              <a:t>20/04/2020</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75585876-37BC-4A19-ADF9-329690B088AF}"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16896A2D-B608-424F-B04D-E1C940EA7043}" type="datetimeFigureOut">
              <a:rPr lang="pt-BR" smtClean="0"/>
              <a:pPr/>
              <a:t>20/04/2020</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5585876-37BC-4A19-ADF9-329690B088AF}"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16896A2D-B608-424F-B04D-E1C940EA7043}" type="datetimeFigureOut">
              <a:rPr lang="pt-BR" smtClean="0"/>
              <a:pPr/>
              <a:t>20/04/2020</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5585876-37BC-4A19-ADF9-329690B088AF}" type="slidenum">
              <a:rPr lang="pt-BR" smtClean="0"/>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16896A2D-B608-424F-B04D-E1C940EA7043}"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5585876-37BC-4A19-ADF9-329690B088AF}" type="slidenum">
              <a:rPr lang="pt-BR" smtClean="0"/>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16896A2D-B608-424F-B04D-E1C940EA7043}"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5585876-37BC-4A19-ADF9-329690B088AF}"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896A2D-B608-424F-B04D-E1C940EA7043}" type="datetimeFigureOut">
              <a:rPr lang="pt-BR" smtClean="0"/>
              <a:pPr/>
              <a:t>20/04/2020</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585876-37BC-4A19-ADF9-329690B088AF}" type="slidenum">
              <a:rPr lang="pt-BR" smtClean="0"/>
              <a:pPr/>
              <a:t>‹nº›</a:t>
            </a:fld>
            <a:endParaRPr lang="pt-B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image" Target="../media/image10.gif"/></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a:t>Afretamento Marítimo</a:t>
            </a:r>
          </a:p>
        </p:txBody>
      </p:sp>
      <p:sp>
        <p:nvSpPr>
          <p:cNvPr id="3" name="Subtítulo 2"/>
          <p:cNvSpPr>
            <a:spLocks noGrp="1"/>
          </p:cNvSpPr>
          <p:nvPr>
            <p:ph type="subTitle" idx="1"/>
          </p:nvPr>
        </p:nvSpPr>
        <p:spPr>
          <a:xfrm>
            <a:off x="1371600" y="5000636"/>
            <a:ext cx="6400800" cy="1071570"/>
          </a:xfrm>
        </p:spPr>
        <p:txBody>
          <a:bodyPr>
            <a:normAutofit fontScale="70000" lnSpcReduction="20000"/>
          </a:bodyPr>
          <a:lstStyle/>
          <a:p>
            <a:r>
              <a:rPr lang="pt-BR" i="1" dirty="0"/>
              <a:t>Aula 1</a:t>
            </a:r>
          </a:p>
          <a:p>
            <a:r>
              <a:rPr lang="pt-BR" dirty="0"/>
              <a:t>Definição e Classificação do Afretamento Marítimo</a:t>
            </a:r>
          </a:p>
        </p:txBody>
      </p:sp>
      <p:pic>
        <p:nvPicPr>
          <p:cNvPr id="4" name="Picture 2" descr="C:\Documents and Settings\monitoramayara\Meus documentos\Downloads\logo (1).png"/>
          <p:cNvPicPr>
            <a:picLocks noChangeAspect="1" noChangeArrowheads="1"/>
          </p:cNvPicPr>
          <p:nvPr/>
        </p:nvPicPr>
        <p:blipFill>
          <a:blip r:embed="rId3" cstate="print"/>
          <a:srcRect/>
          <a:stretch>
            <a:fillRect/>
          </a:stretch>
        </p:blipFill>
        <p:spPr bwMode="auto">
          <a:xfrm>
            <a:off x="8143900" y="6215082"/>
            <a:ext cx="1000100" cy="64291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Apresentação</a:t>
            </a:r>
          </a:p>
        </p:txBody>
      </p:sp>
      <p:sp>
        <p:nvSpPr>
          <p:cNvPr id="3" name="Espaço Reservado para Conteúdo 2"/>
          <p:cNvSpPr>
            <a:spLocks noGrp="1"/>
          </p:cNvSpPr>
          <p:nvPr>
            <p:ph idx="1"/>
          </p:nvPr>
        </p:nvSpPr>
        <p:spPr>
          <a:xfrm>
            <a:off x="457200" y="1600201"/>
            <a:ext cx="8229600" cy="900105"/>
          </a:xfrm>
        </p:spPr>
        <p:txBody>
          <a:bodyPr>
            <a:normAutofit fontScale="70000" lnSpcReduction="20000"/>
          </a:bodyPr>
          <a:lstStyle/>
          <a:p>
            <a:pPr>
              <a:buNone/>
            </a:pPr>
            <a:r>
              <a:rPr lang="pt-BR" dirty="0"/>
              <a:t>	Nesta segunda unidade do curso serão apresentadas as principais definições de Afretamento Marítimo e os diversos formatos em que ele ocorre.</a:t>
            </a:r>
            <a:endParaRPr lang="pt-BR" b="1" dirty="0"/>
          </a:p>
          <a:p>
            <a:endParaRPr lang="pt-BR" dirty="0"/>
          </a:p>
        </p:txBody>
      </p:sp>
      <p:pic>
        <p:nvPicPr>
          <p:cNvPr id="11266" name="Picture 2" descr="http://3.bp.blogspot.com/_SnodeoPId2g/TGhboeTb7eI/AAAAAAAAA9I/rODe5iOJMow/s1600/av.gif"/>
          <p:cNvPicPr>
            <a:picLocks noChangeAspect="1" noChangeArrowheads="1"/>
          </p:cNvPicPr>
          <p:nvPr/>
        </p:nvPicPr>
        <p:blipFill>
          <a:blip r:embed="rId3" cstate="print"/>
          <a:srcRect/>
          <a:stretch>
            <a:fillRect/>
          </a:stretch>
        </p:blipFill>
        <p:spPr bwMode="auto">
          <a:xfrm>
            <a:off x="2714612" y="3571876"/>
            <a:ext cx="4062404" cy="2209789"/>
          </a:xfrm>
          <a:prstGeom prst="rect">
            <a:avLst/>
          </a:prstGeom>
          <a:ln w="190500" cap="sq">
            <a:solidFill>
              <a:schemeClr val="tx2">
                <a:lumMod val="90000"/>
              </a:schemeClr>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5" name="Picture 2" descr="C:\Documents and Settings\monitoramayara\Meus documentos\Downloads\logo (1).png"/>
          <p:cNvPicPr>
            <a:picLocks noChangeAspect="1" noChangeArrowheads="1"/>
          </p:cNvPicPr>
          <p:nvPr/>
        </p:nvPicPr>
        <p:blipFill>
          <a:blip r:embed="rId4" cstate="print"/>
          <a:srcRect/>
          <a:stretch>
            <a:fillRect/>
          </a:stretch>
        </p:blipFill>
        <p:spPr bwMode="auto">
          <a:xfrm>
            <a:off x="8143900" y="6215082"/>
            <a:ext cx="1000100" cy="642918"/>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z="3000" dirty="0"/>
              <a:t>Objetivos</a:t>
            </a:r>
          </a:p>
        </p:txBody>
      </p:sp>
      <p:sp>
        <p:nvSpPr>
          <p:cNvPr id="3" name="Espaço Reservado para Conteúdo 2"/>
          <p:cNvSpPr>
            <a:spLocks noGrp="1"/>
          </p:cNvSpPr>
          <p:nvPr>
            <p:ph idx="1"/>
          </p:nvPr>
        </p:nvSpPr>
        <p:spPr>
          <a:xfrm>
            <a:off x="457200" y="1600201"/>
            <a:ext cx="8229600" cy="471477"/>
          </a:xfrm>
        </p:spPr>
        <p:txBody>
          <a:bodyPr>
            <a:normAutofit fontScale="92500" lnSpcReduction="10000"/>
          </a:bodyPr>
          <a:lstStyle/>
          <a:p>
            <a:pPr>
              <a:buNone/>
            </a:pPr>
            <a:r>
              <a:rPr lang="pt-BR" sz="2700" dirty="0"/>
              <a:t>	Os objetivos desta unidade são:</a:t>
            </a:r>
          </a:p>
          <a:p>
            <a:pPr>
              <a:buNone/>
            </a:pPr>
            <a:endParaRPr lang="pt-BR" b="1" dirty="0"/>
          </a:p>
          <a:p>
            <a:endParaRPr lang="pt-BR" dirty="0"/>
          </a:p>
        </p:txBody>
      </p:sp>
      <p:sp>
        <p:nvSpPr>
          <p:cNvPr id="4" name="Retângulo 3"/>
          <p:cNvSpPr/>
          <p:nvPr/>
        </p:nvSpPr>
        <p:spPr>
          <a:xfrm>
            <a:off x="857224" y="2428868"/>
            <a:ext cx="7429552" cy="2554545"/>
          </a:xfrm>
          <a:prstGeom prst="rect">
            <a:avLst/>
          </a:prstGeom>
          <a:ln>
            <a:solidFill>
              <a:schemeClr val="tx1"/>
            </a:solidFill>
          </a:ln>
        </p:spPr>
        <p:txBody>
          <a:bodyPr wrap="square">
            <a:spAutoFit/>
          </a:bodyPr>
          <a:lstStyle/>
          <a:p>
            <a:pPr lvl="0">
              <a:buFont typeface="Wingdings" pitchFamily="2" charset="2"/>
              <a:buChar char="§"/>
            </a:pPr>
            <a:r>
              <a:rPr lang="pt-BR" sz="2000" dirty="0"/>
              <a:t> Conhecer as principais definições de Afretamento, tanto em seu formato mais amplo, ligado à contratação de transporte marítimo, quanto ao seu formato mais específico, ligado ao aluguel total de um navio;</a:t>
            </a:r>
          </a:p>
          <a:p>
            <a:pPr lvl="0">
              <a:buFont typeface="Wingdings" pitchFamily="2" charset="2"/>
              <a:buChar char="§"/>
            </a:pPr>
            <a:r>
              <a:rPr lang="pt-BR" sz="2000" dirty="0"/>
              <a:t> Conhecer os principais tipos de Afretamento marítimo, com vantagens e desvantagens de cada tipo;</a:t>
            </a:r>
          </a:p>
          <a:p>
            <a:pPr lvl="0">
              <a:buFont typeface="Wingdings" pitchFamily="2" charset="2"/>
              <a:buChar char="§"/>
            </a:pPr>
            <a:r>
              <a:rPr lang="pt-BR" sz="2000" dirty="0"/>
              <a:t> Conhecer os conceitos de gestão náutica e comercial e suas aplicações aos diversos tipos de afretamento.</a:t>
            </a:r>
            <a:endParaRPr lang="pt-BR" sz="2000" b="1" dirty="0"/>
          </a:p>
        </p:txBody>
      </p:sp>
      <p:pic>
        <p:nvPicPr>
          <p:cNvPr id="5" name="Picture 2" descr="C:\Documents and Settings\monitoramayara\Meus documentos\Downloads\logo (1).png"/>
          <p:cNvPicPr>
            <a:picLocks noChangeAspect="1" noChangeArrowheads="1"/>
          </p:cNvPicPr>
          <p:nvPr/>
        </p:nvPicPr>
        <p:blipFill>
          <a:blip r:embed="rId3" cstate="print"/>
          <a:srcRect/>
          <a:stretch>
            <a:fillRect/>
          </a:stretch>
        </p:blipFill>
        <p:spPr bwMode="auto">
          <a:xfrm>
            <a:off x="8143900" y="6215082"/>
            <a:ext cx="1000100" cy="642918"/>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z="3000" dirty="0"/>
              <a:t>Introdução</a:t>
            </a:r>
          </a:p>
        </p:txBody>
      </p:sp>
      <p:sp>
        <p:nvSpPr>
          <p:cNvPr id="3" name="Espaço Reservado para Conteúdo 2"/>
          <p:cNvSpPr>
            <a:spLocks noGrp="1"/>
          </p:cNvSpPr>
          <p:nvPr>
            <p:ph idx="1"/>
          </p:nvPr>
        </p:nvSpPr>
        <p:spPr>
          <a:xfrm>
            <a:off x="457200" y="1357298"/>
            <a:ext cx="8229600" cy="3071833"/>
          </a:xfrm>
        </p:spPr>
        <p:txBody>
          <a:bodyPr>
            <a:normAutofit fontScale="62500" lnSpcReduction="20000"/>
          </a:bodyPr>
          <a:lstStyle/>
          <a:p>
            <a:r>
              <a:rPr lang="pt-BR" dirty="0"/>
              <a:t>O afretamento no transporte marítimo tem sido o instrumento prático dando dinamismo às empresas transportadoras e mesmo aos proprietários de mercadoria que não desejam investir altas somas de capital na aquisição de navios.</a:t>
            </a:r>
          </a:p>
          <a:p>
            <a:endParaRPr lang="pt-BR" b="1" dirty="0"/>
          </a:p>
          <a:p>
            <a:r>
              <a:rPr lang="pt-BR" dirty="0"/>
              <a:t>Mesmo grandes empresas de transporte marítimo acabam por dimensionar de forma extremamente enxuta suas frotas de navios para que variações na demanda por transporte mundial (como as advindas de períodos de crise como o que atualmente vivemos) não resultem em uma frota ociosa e improdutiva com altos custos de manutenção.</a:t>
            </a:r>
          </a:p>
          <a:p>
            <a:endParaRPr lang="pt-BR" b="1" dirty="0"/>
          </a:p>
          <a:p>
            <a:endParaRPr lang="pt-BR" dirty="0"/>
          </a:p>
        </p:txBody>
      </p:sp>
      <p:pic>
        <p:nvPicPr>
          <p:cNvPr id="9218" name="Picture 2" descr="http://www.myrtheslima.com/img_jpg/navio.jpg"/>
          <p:cNvPicPr>
            <a:picLocks noChangeAspect="1" noChangeArrowheads="1"/>
          </p:cNvPicPr>
          <p:nvPr/>
        </p:nvPicPr>
        <p:blipFill>
          <a:blip r:embed="rId3" cstate="print"/>
          <a:srcRect/>
          <a:stretch>
            <a:fillRect/>
          </a:stretch>
        </p:blipFill>
        <p:spPr bwMode="auto">
          <a:xfrm>
            <a:off x="3286116" y="4286256"/>
            <a:ext cx="3000368" cy="2250277"/>
          </a:xfrm>
          <a:prstGeom prst="rect">
            <a:avLst/>
          </a:prstGeom>
          <a:noFill/>
        </p:spPr>
      </p:pic>
      <p:pic>
        <p:nvPicPr>
          <p:cNvPr id="5" name="Picture 2" descr="C:\Documents and Settings\monitoramayara\Meus documentos\Downloads\logo (1).png"/>
          <p:cNvPicPr>
            <a:picLocks noChangeAspect="1" noChangeArrowheads="1"/>
          </p:cNvPicPr>
          <p:nvPr/>
        </p:nvPicPr>
        <p:blipFill>
          <a:blip r:embed="rId4" cstate="print"/>
          <a:srcRect/>
          <a:stretch>
            <a:fillRect/>
          </a:stretch>
        </p:blipFill>
        <p:spPr bwMode="auto">
          <a:xfrm>
            <a:off x="8143900" y="6215082"/>
            <a:ext cx="1000100" cy="642918"/>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Introdução</a:t>
            </a:r>
          </a:p>
        </p:txBody>
      </p:sp>
      <p:sp>
        <p:nvSpPr>
          <p:cNvPr id="3" name="Espaço Reservado para Conteúdo 2"/>
          <p:cNvSpPr>
            <a:spLocks noGrp="1"/>
          </p:cNvSpPr>
          <p:nvPr>
            <p:ph idx="1"/>
          </p:nvPr>
        </p:nvSpPr>
        <p:spPr>
          <a:xfrm>
            <a:off x="457200" y="1600201"/>
            <a:ext cx="8229600" cy="2471742"/>
          </a:xfrm>
        </p:spPr>
        <p:txBody>
          <a:bodyPr>
            <a:normAutofit fontScale="70000" lnSpcReduction="20000"/>
          </a:bodyPr>
          <a:lstStyle/>
          <a:p>
            <a:r>
              <a:rPr lang="pt-BR" dirty="0"/>
              <a:t>São várias as definições de afretamento e são diversas as modalidades em que essa prática pode ocorrer. </a:t>
            </a:r>
          </a:p>
          <a:p>
            <a:endParaRPr lang="pt-BR" b="1" dirty="0"/>
          </a:p>
          <a:p>
            <a:r>
              <a:rPr lang="pt-BR" dirty="0"/>
              <a:t>Alguns autores entendem que o afretamento diz respeito à contratação do navio em qualquer formato. Ou seja, um cliente que contrate um transportador marítimo para transportar suas cargas estaria “afretando” uma parte do navio.</a:t>
            </a:r>
            <a:endParaRPr lang="pt-BR" b="1" dirty="0"/>
          </a:p>
          <a:p>
            <a:endParaRPr lang="pt-BR" dirty="0"/>
          </a:p>
        </p:txBody>
      </p:sp>
      <p:pic>
        <p:nvPicPr>
          <p:cNvPr id="8194" name="Picture 2" descr="http://www.santosdigital.com.br/cruzeiros/navio.jpg"/>
          <p:cNvPicPr>
            <a:picLocks noChangeAspect="1" noChangeArrowheads="1"/>
          </p:cNvPicPr>
          <p:nvPr/>
        </p:nvPicPr>
        <p:blipFill>
          <a:blip r:embed="rId3" cstate="print"/>
          <a:srcRect/>
          <a:stretch>
            <a:fillRect/>
          </a:stretch>
        </p:blipFill>
        <p:spPr bwMode="auto">
          <a:xfrm>
            <a:off x="2928926" y="4214818"/>
            <a:ext cx="3786164" cy="20116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2" descr="C:\Documents and Settings\monitoramayara\Meus documentos\Downloads\logo (1).png"/>
          <p:cNvPicPr>
            <a:picLocks noChangeAspect="1" noChangeArrowheads="1"/>
          </p:cNvPicPr>
          <p:nvPr/>
        </p:nvPicPr>
        <p:blipFill>
          <a:blip r:embed="rId4" cstate="print"/>
          <a:srcRect/>
          <a:stretch>
            <a:fillRect/>
          </a:stretch>
        </p:blipFill>
        <p:spPr bwMode="auto">
          <a:xfrm>
            <a:off x="8143900" y="6215082"/>
            <a:ext cx="1000100" cy="642918"/>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Definição de Afretamento</a:t>
            </a:r>
          </a:p>
        </p:txBody>
      </p:sp>
      <p:graphicFrame>
        <p:nvGraphicFramePr>
          <p:cNvPr id="4" name="Espaço Reservado para Conteúdo 3"/>
          <p:cNvGraphicFramePr>
            <a:graphicFrameLocks noGrp="1"/>
          </p:cNvGraphicFramePr>
          <p:nvPr>
            <p:ph idx="1"/>
          </p:nvPr>
        </p:nvGraphicFramePr>
        <p:xfrm>
          <a:off x="3428992" y="2303473"/>
          <a:ext cx="2114536" cy="17684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aixaDeTexto 4"/>
          <p:cNvSpPr txBox="1"/>
          <p:nvPr/>
        </p:nvSpPr>
        <p:spPr>
          <a:xfrm>
            <a:off x="857224" y="1571612"/>
            <a:ext cx="8072494" cy="430887"/>
          </a:xfrm>
          <a:prstGeom prst="rect">
            <a:avLst/>
          </a:prstGeom>
          <a:noFill/>
        </p:spPr>
        <p:txBody>
          <a:bodyPr wrap="square" rtlCol="0">
            <a:spAutoFit/>
          </a:bodyPr>
          <a:lstStyle/>
          <a:p>
            <a:r>
              <a:rPr lang="pt-BR" sz="2200" dirty="0"/>
              <a:t>O afretamento pode ter diversas definições, vejamos  a seguir:</a:t>
            </a:r>
          </a:p>
        </p:txBody>
      </p:sp>
      <p:sp>
        <p:nvSpPr>
          <p:cNvPr id="6" name="CaixaDeTexto 5"/>
          <p:cNvSpPr txBox="1"/>
          <p:nvPr/>
        </p:nvSpPr>
        <p:spPr>
          <a:xfrm>
            <a:off x="857224" y="4488428"/>
            <a:ext cx="7643834" cy="769441"/>
          </a:xfrm>
          <a:prstGeom prst="rect">
            <a:avLst/>
          </a:prstGeom>
          <a:noFill/>
        </p:spPr>
        <p:txBody>
          <a:bodyPr wrap="square" rtlCol="0">
            <a:spAutoFit/>
          </a:bodyPr>
          <a:lstStyle/>
          <a:p>
            <a:r>
              <a:rPr lang="pt-BR" sz="2200" dirty="0"/>
              <a:t>Existem outros tipos de afretamento que são mais voltados ao mercado, que serão citados na próxima aula.</a:t>
            </a:r>
          </a:p>
        </p:txBody>
      </p:sp>
      <p:pic>
        <p:nvPicPr>
          <p:cNvPr id="7" name="Picture 2" descr="C:\Documents and Settings\monitoramayara\Meus documentos\Downloads\logo (1).png"/>
          <p:cNvPicPr>
            <a:picLocks noChangeAspect="1" noChangeArrowheads="1"/>
          </p:cNvPicPr>
          <p:nvPr/>
        </p:nvPicPr>
        <p:blipFill>
          <a:blip r:embed="rId8" cstate="print"/>
          <a:srcRect/>
          <a:stretch>
            <a:fillRect/>
          </a:stretch>
        </p:blipFill>
        <p:spPr bwMode="auto">
          <a:xfrm>
            <a:off x="8143900" y="6215082"/>
            <a:ext cx="1000100" cy="642918"/>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Definição de Afretamento</a:t>
            </a:r>
          </a:p>
        </p:txBody>
      </p:sp>
      <p:sp>
        <p:nvSpPr>
          <p:cNvPr id="3" name="Espaço Reservado para Conteúdo 2"/>
          <p:cNvSpPr>
            <a:spLocks noGrp="1"/>
          </p:cNvSpPr>
          <p:nvPr>
            <p:ph idx="1"/>
          </p:nvPr>
        </p:nvSpPr>
        <p:spPr>
          <a:xfrm>
            <a:off x="457200" y="1600200"/>
            <a:ext cx="8229600" cy="3829064"/>
          </a:xfrm>
        </p:spPr>
        <p:txBody>
          <a:bodyPr>
            <a:normAutofit fontScale="47500" lnSpcReduction="20000"/>
          </a:bodyPr>
          <a:lstStyle/>
          <a:p>
            <a:pPr lvl="1"/>
            <a:r>
              <a:rPr lang="pt-BR" sz="3800" b="1" dirty="0"/>
              <a:t>Definição ampla</a:t>
            </a:r>
          </a:p>
          <a:p>
            <a:pPr lvl="1"/>
            <a:endParaRPr lang="pt-BR" sz="3800" b="1" dirty="0"/>
          </a:p>
          <a:p>
            <a:r>
              <a:rPr lang="pt-BR" sz="3800" dirty="0"/>
              <a:t>Alguns autores definem Afretamento de uma forma mais ampla, relacionada à contratação do transporte como um todo. Temos então o</a:t>
            </a:r>
            <a:r>
              <a:rPr lang="pt-BR" sz="3800" b="1" dirty="0"/>
              <a:t> afretamento parcial do navio</a:t>
            </a:r>
            <a:r>
              <a:rPr lang="pt-BR" sz="3800" dirty="0"/>
              <a:t>, em que um cliente aluga parte de um navio para transportar suas mercadorias. Os serviços de navegação de linha se encaixam muito bem nesse conceito.</a:t>
            </a:r>
          </a:p>
          <a:p>
            <a:endParaRPr lang="pt-BR" sz="3800" b="1" dirty="0"/>
          </a:p>
          <a:p>
            <a:r>
              <a:rPr lang="pt-BR" sz="3800" dirty="0"/>
              <a:t>Ou seja, para esses autores, o ato de afretar diz respeito à contratação do transporte de mercadorias em um navio. </a:t>
            </a:r>
          </a:p>
          <a:p>
            <a:endParaRPr lang="pt-BR" sz="3800" b="1" dirty="0"/>
          </a:p>
          <a:p>
            <a:r>
              <a:rPr lang="pt-BR" sz="3800" dirty="0"/>
              <a:t>Assim, temos uma primeira definição, mais ampla de Afretamento: “Trata-se do contrato pelo qual alguém se obriga, mediante o pagamento de frete, a transportar, em um navio, mercadorias de um porto a outro” (LUDOVICO, 2008).</a:t>
            </a:r>
            <a:endParaRPr lang="pt-BR" sz="3800" b="1" dirty="0"/>
          </a:p>
          <a:p>
            <a:endParaRPr lang="pt-BR" dirty="0"/>
          </a:p>
        </p:txBody>
      </p:sp>
      <p:pic>
        <p:nvPicPr>
          <p:cNvPr id="1026" name="Picture 2" descr="ICONE-DEFINIÇÃO"/>
          <p:cNvPicPr>
            <a:picLocks noChangeAspect="1" noChangeArrowheads="1"/>
          </p:cNvPicPr>
          <p:nvPr/>
        </p:nvPicPr>
        <p:blipFill>
          <a:blip r:embed="rId3" cstate="print"/>
          <a:srcRect/>
          <a:stretch>
            <a:fillRect/>
          </a:stretch>
        </p:blipFill>
        <p:spPr bwMode="auto">
          <a:xfrm>
            <a:off x="4143372" y="5429264"/>
            <a:ext cx="857256" cy="1036384"/>
          </a:xfrm>
          <a:prstGeom prst="rect">
            <a:avLst/>
          </a:prstGeom>
          <a:noFill/>
          <a:ln w="9525">
            <a:noFill/>
            <a:miter lim="800000"/>
            <a:headEnd/>
            <a:tailEnd/>
          </a:ln>
        </p:spPr>
      </p:pic>
      <p:pic>
        <p:nvPicPr>
          <p:cNvPr id="5" name="Picture 2" descr="C:\Documents and Settings\monitoramayara\Meus documentos\Downloads\logo (1).png"/>
          <p:cNvPicPr>
            <a:picLocks noChangeAspect="1" noChangeArrowheads="1"/>
          </p:cNvPicPr>
          <p:nvPr/>
        </p:nvPicPr>
        <p:blipFill>
          <a:blip r:embed="rId4" cstate="print"/>
          <a:srcRect/>
          <a:stretch>
            <a:fillRect/>
          </a:stretch>
        </p:blipFill>
        <p:spPr bwMode="auto">
          <a:xfrm>
            <a:off x="8143900" y="6215082"/>
            <a:ext cx="1000100" cy="642918"/>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Definição de Afretamento</a:t>
            </a:r>
          </a:p>
        </p:txBody>
      </p:sp>
      <p:sp>
        <p:nvSpPr>
          <p:cNvPr id="3" name="Espaço Reservado para Conteúdo 2"/>
          <p:cNvSpPr>
            <a:spLocks noGrp="1"/>
          </p:cNvSpPr>
          <p:nvPr>
            <p:ph idx="1"/>
          </p:nvPr>
        </p:nvSpPr>
        <p:spPr>
          <a:xfrm>
            <a:off x="457200" y="1600201"/>
            <a:ext cx="8229600" cy="4043377"/>
          </a:xfrm>
        </p:spPr>
        <p:txBody>
          <a:bodyPr>
            <a:normAutofit fontScale="62500" lnSpcReduction="20000"/>
          </a:bodyPr>
          <a:lstStyle/>
          <a:p>
            <a:pPr lvl="1"/>
            <a:r>
              <a:rPr lang="pt-BR" b="1" dirty="0"/>
              <a:t>Definição específica	</a:t>
            </a:r>
          </a:p>
          <a:p>
            <a:pPr lvl="1"/>
            <a:endParaRPr lang="pt-BR" b="1" dirty="0"/>
          </a:p>
          <a:p>
            <a:r>
              <a:rPr lang="pt-BR" dirty="0"/>
              <a:t>Com a evolução do comércio mundial, todos os participantes das atividades logísticas tiveram que se adaptar, aprimorando seu dinamismo e flexibilidade. </a:t>
            </a:r>
          </a:p>
          <a:p>
            <a:endParaRPr lang="pt-BR" b="1" dirty="0"/>
          </a:p>
          <a:p>
            <a:r>
              <a:rPr lang="pt-BR" dirty="0"/>
              <a:t>Aqui, no nosso caso, um armador deve estar preparado para as variações da demanda por transporte e ter a capacidade de se adaptar rapidamente atendendo aos seus clientes.</a:t>
            </a:r>
          </a:p>
          <a:p>
            <a:endParaRPr lang="pt-BR" b="1" dirty="0"/>
          </a:p>
          <a:p>
            <a:r>
              <a:rPr lang="pt-BR" dirty="0"/>
              <a:t>Ocorre que se esse armador decidir pela aquisição de um grande número de navios para servir seus clientes, pode acontecer de que, em momentos de baixa demanda por transporte, os prejuízos sejam enormes, pois muitos navios ficarão ociosos. </a:t>
            </a:r>
            <a:endParaRPr lang="pt-BR" b="1" dirty="0"/>
          </a:p>
          <a:p>
            <a:endParaRPr lang="pt-BR" dirty="0"/>
          </a:p>
        </p:txBody>
      </p:sp>
      <p:pic>
        <p:nvPicPr>
          <p:cNvPr id="4" name="Picture 2" descr="C:\Documents and Settings\monitoramayara\Meus documentos\Downloads\logo (1).png"/>
          <p:cNvPicPr>
            <a:picLocks noChangeAspect="1" noChangeArrowheads="1"/>
          </p:cNvPicPr>
          <p:nvPr/>
        </p:nvPicPr>
        <p:blipFill>
          <a:blip r:embed="rId3" cstate="print"/>
          <a:srcRect/>
          <a:stretch>
            <a:fillRect/>
          </a:stretch>
        </p:blipFill>
        <p:spPr bwMode="auto">
          <a:xfrm>
            <a:off x="8143900" y="6215082"/>
            <a:ext cx="1000100" cy="642918"/>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Definição de Afretamento</a:t>
            </a:r>
          </a:p>
        </p:txBody>
      </p:sp>
      <p:sp>
        <p:nvSpPr>
          <p:cNvPr id="3" name="Espaço Reservado para Conteúdo 2"/>
          <p:cNvSpPr>
            <a:spLocks noGrp="1"/>
          </p:cNvSpPr>
          <p:nvPr>
            <p:ph idx="1"/>
          </p:nvPr>
        </p:nvSpPr>
        <p:spPr>
          <a:xfrm>
            <a:off x="457200" y="1600201"/>
            <a:ext cx="8229600" cy="3900502"/>
          </a:xfrm>
        </p:spPr>
        <p:txBody>
          <a:bodyPr>
            <a:normAutofit fontScale="62500" lnSpcReduction="20000"/>
          </a:bodyPr>
          <a:lstStyle/>
          <a:p>
            <a:pPr marL="1200150" lvl="3" indent="-342900"/>
            <a:r>
              <a:rPr lang="pt-BR" sz="3200" b="1" dirty="0"/>
              <a:t>Definição específica</a:t>
            </a:r>
            <a:r>
              <a:rPr lang="pt-BR" sz="2600" b="1" dirty="0"/>
              <a:t>	</a:t>
            </a:r>
          </a:p>
          <a:p>
            <a:endParaRPr lang="pt-BR" dirty="0"/>
          </a:p>
          <a:p>
            <a:r>
              <a:rPr lang="pt-BR" dirty="0"/>
              <a:t>Sabendo que um navio mercante tem um custo operacional extremamente elevado, seria muito arriscado tomar essa decisão.</a:t>
            </a:r>
          </a:p>
          <a:p>
            <a:endParaRPr lang="pt-BR" dirty="0"/>
          </a:p>
          <a:p>
            <a:r>
              <a:rPr lang="pt-BR" dirty="0"/>
              <a:t>Sendo assim, os armadores em todo o mundo acabam por não se arriscar tanto, adquirindo somente a quantidade de navios necessários aos serviços garantidos e para os quais não há tanta variação da demanda.</a:t>
            </a:r>
          </a:p>
          <a:p>
            <a:endParaRPr lang="pt-BR" dirty="0"/>
          </a:p>
          <a:p>
            <a:r>
              <a:rPr lang="pt-BR" dirty="0"/>
              <a:t>Quando esse armador percebe um crescimento da demanda por transporte e a possibilidade de novos clientes, ele busca no mercado proprietários de navios que queiram alugá-los, surgindo o mecanismo de afretamento marítimo.</a:t>
            </a:r>
          </a:p>
          <a:p>
            <a:endParaRPr lang="pt-BR" dirty="0"/>
          </a:p>
        </p:txBody>
      </p:sp>
      <p:pic>
        <p:nvPicPr>
          <p:cNvPr id="5122" name="Picture 2" descr="http://3.bp.blogspot.com/_jEh7qMAYzfM/SdyvonQ-vZI/AAAAAAAAAFs/17MNJRsJNuI/s400/0909845.jpg"/>
          <p:cNvPicPr>
            <a:picLocks noChangeAspect="1" noChangeArrowheads="1"/>
          </p:cNvPicPr>
          <p:nvPr/>
        </p:nvPicPr>
        <p:blipFill>
          <a:blip r:embed="rId3" cstate="print"/>
          <a:srcRect/>
          <a:stretch>
            <a:fillRect/>
          </a:stretch>
        </p:blipFill>
        <p:spPr bwMode="auto">
          <a:xfrm>
            <a:off x="2643174" y="5286388"/>
            <a:ext cx="4500594" cy="1238245"/>
          </a:xfrm>
          <a:prstGeom prst="rect">
            <a:avLst/>
          </a:prstGeom>
          <a:ln>
            <a:noFill/>
          </a:ln>
          <a:effectLst>
            <a:outerShdw blurRad="292100" dist="139700" dir="2700000" algn="tl" rotWithShape="0">
              <a:srgbClr val="333333">
                <a:alpha val="65000"/>
              </a:srgbClr>
            </a:outerShdw>
          </a:effectLst>
        </p:spPr>
      </p:pic>
      <p:pic>
        <p:nvPicPr>
          <p:cNvPr id="5" name="Picture 2" descr="C:\Documents and Settings\monitoramayara\Meus documentos\Downloads\logo (1).png"/>
          <p:cNvPicPr>
            <a:picLocks noChangeAspect="1" noChangeArrowheads="1"/>
          </p:cNvPicPr>
          <p:nvPr/>
        </p:nvPicPr>
        <p:blipFill>
          <a:blip r:embed="rId4" cstate="print"/>
          <a:srcRect/>
          <a:stretch>
            <a:fillRect/>
          </a:stretch>
        </p:blipFill>
        <p:spPr bwMode="auto">
          <a:xfrm>
            <a:off x="8143900" y="6215082"/>
            <a:ext cx="1000100" cy="642918"/>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Definição de Afretamento</a:t>
            </a:r>
          </a:p>
        </p:txBody>
      </p:sp>
      <p:sp>
        <p:nvSpPr>
          <p:cNvPr id="3" name="Espaço Reservado para Conteúdo 2"/>
          <p:cNvSpPr>
            <a:spLocks noGrp="1"/>
          </p:cNvSpPr>
          <p:nvPr>
            <p:ph idx="1"/>
          </p:nvPr>
        </p:nvSpPr>
        <p:spPr>
          <a:xfrm>
            <a:off x="457200" y="1600201"/>
            <a:ext cx="8229600" cy="3257559"/>
          </a:xfrm>
        </p:spPr>
        <p:txBody>
          <a:bodyPr>
            <a:normAutofit fontScale="55000" lnSpcReduction="20000"/>
          </a:bodyPr>
          <a:lstStyle/>
          <a:p>
            <a:pPr lvl="1"/>
            <a:r>
              <a:rPr lang="pt-BR" b="1" dirty="0"/>
              <a:t>Definição específica</a:t>
            </a:r>
          </a:p>
          <a:p>
            <a:pPr lvl="1"/>
            <a:endParaRPr lang="pt-BR" dirty="0"/>
          </a:p>
          <a:p>
            <a:r>
              <a:rPr lang="pt-BR" dirty="0"/>
              <a:t>Podemos então entender o conceito de afretamento de forma mais específica, ou seja, entendermos que afretamento diz respeito tão somente ao aluguel total do navio por um cliente para o transporte de suas mercadorias, que geralmente são em quantidade suficiente para lotá-lo. </a:t>
            </a:r>
          </a:p>
          <a:p>
            <a:endParaRPr lang="pt-BR" b="1" dirty="0"/>
          </a:p>
          <a:p>
            <a:r>
              <a:rPr lang="pt-BR" dirty="0"/>
              <a:t>Esse conceito se aplica melhor aos serviços de navegação do tipo </a:t>
            </a:r>
            <a:r>
              <a:rPr lang="pt-BR" dirty="0" err="1"/>
              <a:t>Tramp</a:t>
            </a:r>
            <a:r>
              <a:rPr lang="pt-BR" dirty="0"/>
              <a:t>, em que o navio fica a disposição do cliente sem uma rota pré-definida.</a:t>
            </a:r>
          </a:p>
          <a:p>
            <a:endParaRPr lang="pt-BR" b="1" dirty="0"/>
          </a:p>
          <a:p>
            <a:r>
              <a:rPr lang="pt-BR" dirty="0"/>
              <a:t>Com base nessas premissas, podemos então definir Afretamento na forma como o entenderemos ao longo deste conteúdo.</a:t>
            </a:r>
            <a:endParaRPr lang="pt-BR" b="1" dirty="0"/>
          </a:p>
          <a:p>
            <a:endParaRPr lang="pt-BR" dirty="0"/>
          </a:p>
        </p:txBody>
      </p:sp>
      <p:pic>
        <p:nvPicPr>
          <p:cNvPr id="4098" name="Picture 2" descr="http://2.bp.blogspot.com/_1FoZYE3CslI/S9ER8riM9yI/AAAAAAAAAC8/8p3Sk3NQuVE/s1600/itaquatia.jpg"/>
          <p:cNvPicPr>
            <a:picLocks noChangeAspect="1" noChangeArrowheads="1"/>
          </p:cNvPicPr>
          <p:nvPr/>
        </p:nvPicPr>
        <p:blipFill>
          <a:blip r:embed="rId3" cstate="print"/>
          <a:srcRect/>
          <a:stretch>
            <a:fillRect/>
          </a:stretch>
        </p:blipFill>
        <p:spPr bwMode="auto">
          <a:xfrm>
            <a:off x="1142976" y="4714884"/>
            <a:ext cx="7146924" cy="1822089"/>
          </a:xfrm>
          <a:prstGeom prst="rect">
            <a:avLst/>
          </a:prstGeom>
          <a:ln>
            <a:noFill/>
          </a:ln>
          <a:effectLst>
            <a:softEdge rad="11250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Definição de Afretamento</a:t>
            </a:r>
          </a:p>
        </p:txBody>
      </p:sp>
      <p:sp>
        <p:nvSpPr>
          <p:cNvPr id="3" name="Espaço Reservado para Conteúdo 2"/>
          <p:cNvSpPr>
            <a:spLocks noGrp="1"/>
          </p:cNvSpPr>
          <p:nvPr>
            <p:ph idx="1"/>
          </p:nvPr>
        </p:nvSpPr>
        <p:spPr>
          <a:xfrm>
            <a:off x="457200" y="1600201"/>
            <a:ext cx="8229600" cy="2900370"/>
          </a:xfrm>
        </p:spPr>
        <p:txBody>
          <a:bodyPr>
            <a:normAutofit fontScale="62500" lnSpcReduction="20000"/>
          </a:bodyPr>
          <a:lstStyle/>
          <a:p>
            <a:pPr lvl="1"/>
            <a:r>
              <a:rPr lang="pt-BR" sz="3200" b="1" dirty="0"/>
              <a:t>Definição específica</a:t>
            </a:r>
          </a:p>
          <a:p>
            <a:pPr lvl="1"/>
            <a:endParaRPr lang="pt-BR" dirty="0"/>
          </a:p>
          <a:p>
            <a:r>
              <a:rPr lang="pt-BR" dirty="0"/>
              <a:t>Segundo Keedi (1996), Afretamento “é o ato de alugar, arrendar, tomar para si um navio para operá-lo ou embarcá-lo, podendo ser realizado por um armador ou embarcador que necessite do navio”.</a:t>
            </a:r>
          </a:p>
          <a:p>
            <a:endParaRPr lang="pt-BR" b="1" dirty="0"/>
          </a:p>
          <a:p>
            <a:r>
              <a:rPr lang="pt-BR" dirty="0"/>
              <a:t>Por fim, vale destacar uma diferença simples entre Fretamento e Afretamento. Ora, se Afretamento é o ato de receber um navio pagando um frete, Fretamento é exatamente o oposto, ou seja, é o ato de ceder um navio mediante o pagamento de um frete.</a:t>
            </a:r>
            <a:endParaRPr lang="pt-BR" b="1" dirty="0"/>
          </a:p>
          <a:p>
            <a:endParaRPr lang="pt-B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Definição de Afretamento</a:t>
            </a:r>
          </a:p>
        </p:txBody>
      </p:sp>
      <p:sp>
        <p:nvSpPr>
          <p:cNvPr id="3" name="Espaço Reservado para Conteúdo 2"/>
          <p:cNvSpPr>
            <a:spLocks noGrp="1"/>
          </p:cNvSpPr>
          <p:nvPr>
            <p:ph idx="1"/>
          </p:nvPr>
        </p:nvSpPr>
        <p:spPr>
          <a:xfrm>
            <a:off x="457200" y="1600201"/>
            <a:ext cx="8229600" cy="2328865"/>
          </a:xfrm>
        </p:spPr>
        <p:txBody>
          <a:bodyPr>
            <a:normAutofit fontScale="62500" lnSpcReduction="20000"/>
          </a:bodyPr>
          <a:lstStyle/>
          <a:p>
            <a:pPr marL="1200150" lvl="3" indent="-342900"/>
            <a:r>
              <a:rPr lang="pt-BR" sz="2900" b="1" dirty="0"/>
              <a:t>Definição específica</a:t>
            </a:r>
          </a:p>
          <a:p>
            <a:endParaRPr lang="pt-BR" dirty="0"/>
          </a:p>
          <a:p>
            <a:r>
              <a:rPr lang="pt-BR" dirty="0"/>
              <a:t>Da mesma forma, podemos entender que Fretar é ceder um navio a frete e Afretar é recebê-lo a frete. </a:t>
            </a:r>
          </a:p>
          <a:p>
            <a:endParaRPr lang="pt-BR" dirty="0"/>
          </a:p>
          <a:p>
            <a:r>
              <a:rPr lang="pt-BR" dirty="0"/>
              <a:t>Ou ainda que Fretador é quem cede o navio (em geral o seu proprietário) e Afretador é quem recebe o navio (em geral um armador), conforme ilustrado na figura 5, a seguir.</a:t>
            </a:r>
            <a:endParaRPr lang="pt-BR" b="1" dirty="0"/>
          </a:p>
          <a:p>
            <a:endParaRPr lang="pt-BR" dirty="0"/>
          </a:p>
        </p:txBody>
      </p:sp>
      <p:pic>
        <p:nvPicPr>
          <p:cNvPr id="2055" name="Picture 7" descr="http://perlbal.hi-pi.com/blog-images/335131/gd/1194729221/O-navio-TITANIC.jpg"/>
          <p:cNvPicPr>
            <a:picLocks noChangeAspect="1" noChangeArrowheads="1"/>
          </p:cNvPicPr>
          <p:nvPr/>
        </p:nvPicPr>
        <p:blipFill>
          <a:blip r:embed="rId3" cstate="print"/>
          <a:srcRect/>
          <a:stretch>
            <a:fillRect/>
          </a:stretch>
        </p:blipFill>
        <p:spPr bwMode="auto">
          <a:xfrm>
            <a:off x="2428860" y="4000504"/>
            <a:ext cx="4124325" cy="2466975"/>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ta para a esquerda 10"/>
          <p:cNvSpPr/>
          <p:nvPr/>
        </p:nvSpPr>
        <p:spPr>
          <a:xfrm>
            <a:off x="1907704" y="4293096"/>
            <a:ext cx="4968552" cy="864096"/>
          </a:xfrm>
          <a:prstGeom prst="leftArrow">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Título 1"/>
          <p:cNvSpPr>
            <a:spLocks noGrp="1"/>
          </p:cNvSpPr>
          <p:nvPr>
            <p:ph type="title"/>
          </p:nvPr>
        </p:nvSpPr>
        <p:spPr/>
        <p:txBody>
          <a:bodyPr>
            <a:normAutofit/>
          </a:bodyPr>
          <a:lstStyle/>
          <a:p>
            <a:r>
              <a:rPr lang="pt-BR" sz="3000" dirty="0"/>
              <a:t>Afretador e Fretador no Transporte Marítimo</a:t>
            </a:r>
          </a:p>
        </p:txBody>
      </p:sp>
      <p:sp>
        <p:nvSpPr>
          <p:cNvPr id="4" name="Seta para a direita 3"/>
          <p:cNvSpPr/>
          <p:nvPr/>
        </p:nvSpPr>
        <p:spPr>
          <a:xfrm>
            <a:off x="2000232" y="2214554"/>
            <a:ext cx="5357850" cy="857256"/>
          </a:xfrm>
          <a:prstGeom prst="rightArrow">
            <a:avLst/>
          </a:prstGeom>
          <a:ln>
            <a:solidFill>
              <a:schemeClr val="tx1"/>
            </a:solid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pt-BR"/>
          </a:p>
        </p:txBody>
      </p:sp>
      <p:sp>
        <p:nvSpPr>
          <p:cNvPr id="5" name="CaixaDeTexto 4"/>
          <p:cNvSpPr txBox="1"/>
          <p:nvPr/>
        </p:nvSpPr>
        <p:spPr>
          <a:xfrm>
            <a:off x="2571736" y="2428868"/>
            <a:ext cx="3583802" cy="369332"/>
          </a:xfrm>
          <a:prstGeom prst="rect">
            <a:avLst/>
          </a:prstGeom>
          <a:noFill/>
        </p:spPr>
        <p:txBody>
          <a:bodyPr wrap="none" rtlCol="0">
            <a:spAutoFit/>
          </a:bodyPr>
          <a:lstStyle/>
          <a:p>
            <a:r>
              <a:rPr lang="pt-BR" dirty="0"/>
              <a:t>Afretador – Afretamento  (Armador)</a:t>
            </a:r>
          </a:p>
        </p:txBody>
      </p:sp>
      <p:pic>
        <p:nvPicPr>
          <p:cNvPr id="6" name="Picture 2" descr="j0437109"/>
          <p:cNvPicPr>
            <a:picLocks noChangeAspect="1" noChangeArrowheads="1"/>
          </p:cNvPicPr>
          <p:nvPr/>
        </p:nvPicPr>
        <p:blipFill>
          <a:blip r:embed="rId3" cstate="print"/>
          <a:srcRect/>
          <a:stretch>
            <a:fillRect/>
          </a:stretch>
        </p:blipFill>
        <p:spPr bwMode="auto">
          <a:xfrm>
            <a:off x="2000232" y="2996952"/>
            <a:ext cx="1552575" cy="1190625"/>
          </a:xfrm>
          <a:prstGeom prst="rect">
            <a:avLst/>
          </a:prstGeom>
          <a:noFill/>
          <a:ln w="9525">
            <a:noFill/>
            <a:miter lim="800000"/>
            <a:headEnd/>
            <a:tailEnd/>
          </a:ln>
        </p:spPr>
      </p:pic>
      <p:pic>
        <p:nvPicPr>
          <p:cNvPr id="7" name="Picture 3" descr="j0283617"/>
          <p:cNvPicPr>
            <a:picLocks noChangeAspect="1" noChangeArrowheads="1" noCrop="1"/>
          </p:cNvPicPr>
          <p:nvPr/>
        </p:nvPicPr>
        <p:blipFill>
          <a:blip r:embed="rId4" cstate="print"/>
          <a:srcRect/>
          <a:stretch>
            <a:fillRect/>
          </a:stretch>
        </p:blipFill>
        <p:spPr bwMode="auto">
          <a:xfrm>
            <a:off x="4000496" y="3286124"/>
            <a:ext cx="895350" cy="838200"/>
          </a:xfrm>
          <a:prstGeom prst="rect">
            <a:avLst/>
          </a:prstGeom>
          <a:noFill/>
          <a:ln w="9525">
            <a:noFill/>
            <a:miter lim="800000"/>
            <a:headEnd/>
            <a:tailEnd/>
          </a:ln>
        </p:spPr>
      </p:pic>
      <p:pic>
        <p:nvPicPr>
          <p:cNvPr id="8" name="Picture 4" descr="j0437018"/>
          <p:cNvPicPr>
            <a:picLocks noChangeAspect="1" noChangeArrowheads="1"/>
          </p:cNvPicPr>
          <p:nvPr/>
        </p:nvPicPr>
        <p:blipFill>
          <a:blip r:embed="rId5" cstate="print"/>
          <a:srcRect/>
          <a:stretch>
            <a:fillRect/>
          </a:stretch>
        </p:blipFill>
        <p:spPr bwMode="auto">
          <a:xfrm>
            <a:off x="5143504" y="3071810"/>
            <a:ext cx="1695450" cy="1295400"/>
          </a:xfrm>
          <a:prstGeom prst="rect">
            <a:avLst/>
          </a:prstGeom>
          <a:noFill/>
          <a:ln w="9525">
            <a:noFill/>
            <a:miter lim="800000"/>
            <a:headEnd/>
            <a:tailEnd/>
          </a:ln>
        </p:spPr>
      </p:pic>
      <p:sp>
        <p:nvSpPr>
          <p:cNvPr id="9" name="Rectangle 5"/>
          <p:cNvSpPr>
            <a:spLocks noChangeArrowheads="1"/>
          </p:cNvSpPr>
          <p:nvPr/>
        </p:nvSpPr>
        <p:spPr bwMode="auto">
          <a:xfrm>
            <a:off x="2133678" y="4571836"/>
            <a:ext cx="4886594"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pt-BR" dirty="0"/>
              <a:t>FRETADOR – FRETAMENTO (Proprietário do Navio)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Tipo de afretamento mais utilizados no mercado</a:t>
            </a:r>
          </a:p>
        </p:txBody>
      </p:sp>
      <p:graphicFrame>
        <p:nvGraphicFramePr>
          <p:cNvPr id="5" name="Diagrama 4"/>
          <p:cNvGraphicFramePr/>
          <p:nvPr/>
        </p:nvGraphicFramePr>
        <p:xfrm>
          <a:off x="2500298" y="2143116"/>
          <a:ext cx="4214842" cy="22859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Conclusão</a:t>
            </a:r>
          </a:p>
        </p:txBody>
      </p:sp>
      <p:sp>
        <p:nvSpPr>
          <p:cNvPr id="3" name="Espaço Reservado para Conteúdo 2"/>
          <p:cNvSpPr>
            <a:spLocks noGrp="1"/>
          </p:cNvSpPr>
          <p:nvPr>
            <p:ph idx="1"/>
          </p:nvPr>
        </p:nvSpPr>
        <p:spPr/>
        <p:txBody>
          <a:bodyPr/>
          <a:lstStyle/>
          <a:p>
            <a:r>
              <a:rPr lang="pt-BR" sz="2500" b="1" dirty="0"/>
              <a:t>Nesta aula vimos:</a:t>
            </a:r>
          </a:p>
          <a:p>
            <a:endParaRPr lang="pt-BR" sz="2500" dirty="0"/>
          </a:p>
          <a:p>
            <a:pPr lvl="1"/>
            <a:r>
              <a:rPr lang="pt-BR" sz="2100" dirty="0"/>
              <a:t>Objetivos ;</a:t>
            </a:r>
          </a:p>
          <a:p>
            <a:pPr lvl="1"/>
            <a:r>
              <a:rPr lang="pt-BR" sz="2100" dirty="0"/>
              <a:t>Definição de Afretamento.</a:t>
            </a:r>
          </a:p>
          <a:p>
            <a:endParaRPr lang="pt-BR"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SCORM_RATE_QUIZZES" val="0"/>
  <p:tag name="ISPRING_SCORM_PASSING_SCORE" val="100.0000000000"/>
  <p:tag name="ISPRING_RESOURCE_PATHS_HASH_2" val="d33f9f9193db3668b29265eec709ce7d2569d33"/>
</p:tagLst>
</file>

<file path=ppt/theme/theme1.xml><?xml version="1.0" encoding="utf-8"?>
<a:theme xmlns:a="http://schemas.openxmlformats.org/drawingml/2006/main" name="Tema do Office">
  <a:themeElements>
    <a:clrScheme name="Cívico">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959</Words>
  <Application>Microsoft Office PowerPoint</Application>
  <PresentationFormat>Apresentação na tela (4:3)</PresentationFormat>
  <Paragraphs>99</Paragraphs>
  <Slides>15</Slides>
  <Notes>15</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15</vt:i4>
      </vt:variant>
    </vt:vector>
  </HeadingPairs>
  <TitlesOfParts>
    <vt:vector size="19" baseType="lpstr">
      <vt:lpstr>Arial</vt:lpstr>
      <vt:lpstr>Calibri</vt:lpstr>
      <vt:lpstr>Wingdings</vt:lpstr>
      <vt:lpstr>Tema do Office</vt:lpstr>
      <vt:lpstr>Afretamento Marítimo</vt:lpstr>
      <vt:lpstr>Apresentação</vt:lpstr>
      <vt:lpstr>Objetivos</vt:lpstr>
      <vt:lpstr>Introdução</vt:lpstr>
      <vt:lpstr>Introdução</vt:lpstr>
      <vt:lpstr>Definição de Afretamento</vt:lpstr>
      <vt:lpstr>Definição de Afretamento</vt:lpstr>
      <vt:lpstr>Definição de Afretamento</vt:lpstr>
      <vt:lpstr>Definição de Afretamento</vt:lpstr>
      <vt:lpstr>Definição de Afretamento</vt:lpstr>
      <vt:lpstr>Definição de Afretamento</vt:lpstr>
      <vt:lpstr>Definição de Afretamento</vt:lpstr>
      <vt:lpstr>Afretador e Fretador no Transporte Marítimo</vt:lpstr>
      <vt:lpstr>Tipo de afretamento mais utilizados no mercado</vt:lpstr>
      <vt:lpstr>Conclusão</vt:lpstr>
    </vt:vector>
  </TitlesOfParts>
  <Company>Unimes Virtual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Afretamento Marítimo 2°mod</dc:title>
  <dc:creator>monitoramayara</dc:creator>
  <cp:lastModifiedBy>Dino Grejo</cp:lastModifiedBy>
  <cp:revision>17</cp:revision>
  <dcterms:created xsi:type="dcterms:W3CDTF">2012-07-31T14:59:36Z</dcterms:created>
  <dcterms:modified xsi:type="dcterms:W3CDTF">2020-04-20T20:53:35Z</dcterms:modified>
</cp:coreProperties>
</file>