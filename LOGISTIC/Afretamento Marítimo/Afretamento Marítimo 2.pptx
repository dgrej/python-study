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  <p:sldId id="261" r:id="rId5"/>
    <p:sldId id="262" r:id="rId6"/>
    <p:sldId id="264" r:id="rId7"/>
    <p:sldId id="263" r:id="rId8"/>
    <p:sldId id="265" r:id="rId9"/>
    <p:sldId id="266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DC7D56-E338-4827-BAD6-4C1A67F6580B}" type="doc">
      <dgm:prSet loTypeId="urn:microsoft.com/office/officeart/2005/8/layout/chevron2" loCatId="process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pt-BR"/>
        </a:p>
      </dgm:t>
    </dgm:pt>
    <dgm:pt modelId="{702AC0D9-46CD-4885-9A29-5BD54B4834C2}">
      <dgm:prSet custT="1"/>
      <dgm:spPr/>
      <dgm:t>
        <a:bodyPr/>
        <a:lstStyle/>
        <a:p>
          <a:pPr rtl="0"/>
          <a:r>
            <a:rPr lang="pt-BR" sz="1600" b="1" dirty="0"/>
            <a:t>1</a:t>
          </a:r>
        </a:p>
      </dgm:t>
    </dgm:pt>
    <dgm:pt modelId="{56465E62-1021-463B-BA3D-90064E5BA799}" type="parTrans" cxnId="{4CD41CB0-7886-40F8-B70D-873BD50CB55E}">
      <dgm:prSet/>
      <dgm:spPr/>
      <dgm:t>
        <a:bodyPr/>
        <a:lstStyle/>
        <a:p>
          <a:endParaRPr lang="pt-BR"/>
        </a:p>
      </dgm:t>
    </dgm:pt>
    <dgm:pt modelId="{6A50F3B5-0BE7-4772-9F43-90A774AAB9F5}" type="sibTrans" cxnId="{4CD41CB0-7886-40F8-B70D-873BD50CB55E}">
      <dgm:prSet/>
      <dgm:spPr/>
      <dgm:t>
        <a:bodyPr/>
        <a:lstStyle/>
        <a:p>
          <a:endParaRPr lang="pt-BR"/>
        </a:p>
      </dgm:t>
    </dgm:pt>
    <dgm:pt modelId="{CBE30D0A-557D-44A6-938C-2A3AD59A7E2D}">
      <dgm:prSet custT="1"/>
      <dgm:spPr/>
      <dgm:t>
        <a:bodyPr/>
        <a:lstStyle/>
        <a:p>
          <a:pPr rtl="0"/>
          <a:r>
            <a:rPr lang="pt-BR" sz="1600" b="1" dirty="0"/>
            <a:t>Afretamento a casco nu </a:t>
          </a:r>
        </a:p>
      </dgm:t>
    </dgm:pt>
    <dgm:pt modelId="{7F4BEE1D-3CCB-4E7C-A3EF-F6064FF146EB}" type="parTrans" cxnId="{AAFBAA41-9683-4713-AF4F-B5A90AC2EBCB}">
      <dgm:prSet/>
      <dgm:spPr/>
      <dgm:t>
        <a:bodyPr/>
        <a:lstStyle/>
        <a:p>
          <a:endParaRPr lang="pt-BR"/>
        </a:p>
      </dgm:t>
    </dgm:pt>
    <dgm:pt modelId="{5AC62E40-28A5-48AF-A892-95461027AA86}" type="sibTrans" cxnId="{AAFBAA41-9683-4713-AF4F-B5A90AC2EBCB}">
      <dgm:prSet/>
      <dgm:spPr/>
      <dgm:t>
        <a:bodyPr/>
        <a:lstStyle/>
        <a:p>
          <a:endParaRPr lang="pt-BR"/>
        </a:p>
      </dgm:t>
    </dgm:pt>
    <dgm:pt modelId="{C1A3872A-C35A-465D-8CCD-BB682B02ACA9}">
      <dgm:prSet custT="1"/>
      <dgm:spPr/>
      <dgm:t>
        <a:bodyPr/>
        <a:lstStyle/>
        <a:p>
          <a:pPr rtl="0"/>
          <a:r>
            <a:rPr lang="pt-BR" sz="1600" b="1" dirty="0"/>
            <a:t>2</a:t>
          </a:r>
        </a:p>
      </dgm:t>
    </dgm:pt>
    <dgm:pt modelId="{77468A18-DE66-43F4-9E55-C6279C3878EC}" type="parTrans" cxnId="{A6D67B11-3298-452E-8487-C3F46A928339}">
      <dgm:prSet/>
      <dgm:spPr/>
      <dgm:t>
        <a:bodyPr/>
        <a:lstStyle/>
        <a:p>
          <a:endParaRPr lang="pt-BR"/>
        </a:p>
      </dgm:t>
    </dgm:pt>
    <dgm:pt modelId="{E57C4C2D-A9BB-45AB-A099-116E532AA067}" type="sibTrans" cxnId="{A6D67B11-3298-452E-8487-C3F46A928339}">
      <dgm:prSet/>
      <dgm:spPr/>
      <dgm:t>
        <a:bodyPr/>
        <a:lstStyle/>
        <a:p>
          <a:endParaRPr lang="pt-BR"/>
        </a:p>
      </dgm:t>
    </dgm:pt>
    <dgm:pt modelId="{E431F2BF-79E0-47C9-B922-6C054349B140}">
      <dgm:prSet custT="1"/>
      <dgm:spPr/>
      <dgm:t>
        <a:bodyPr/>
        <a:lstStyle/>
        <a:p>
          <a:pPr rtl="0"/>
          <a:r>
            <a:rPr lang="pt-BR" sz="1600" b="1" dirty="0"/>
            <a:t>Afretamento por viagem (Voyage Charter)</a:t>
          </a:r>
        </a:p>
      </dgm:t>
    </dgm:pt>
    <dgm:pt modelId="{29CC2159-3D2A-4517-9EE4-4A22F63A83D1}" type="parTrans" cxnId="{F2B74FE1-2BC3-40C0-A77E-88F47C91482A}">
      <dgm:prSet/>
      <dgm:spPr/>
      <dgm:t>
        <a:bodyPr/>
        <a:lstStyle/>
        <a:p>
          <a:endParaRPr lang="pt-BR"/>
        </a:p>
      </dgm:t>
    </dgm:pt>
    <dgm:pt modelId="{654E0F28-F50B-4041-AE31-CB783A4159EC}" type="sibTrans" cxnId="{F2B74FE1-2BC3-40C0-A77E-88F47C91482A}">
      <dgm:prSet/>
      <dgm:spPr/>
      <dgm:t>
        <a:bodyPr/>
        <a:lstStyle/>
        <a:p>
          <a:endParaRPr lang="pt-BR"/>
        </a:p>
      </dgm:t>
    </dgm:pt>
    <dgm:pt modelId="{967EF370-239E-4914-98F8-0847AC8AE626}">
      <dgm:prSet custT="1"/>
      <dgm:spPr/>
      <dgm:t>
        <a:bodyPr/>
        <a:lstStyle/>
        <a:p>
          <a:pPr rtl="0"/>
          <a:r>
            <a:rPr lang="pt-BR" sz="1600" b="1" dirty="0"/>
            <a:t>3</a:t>
          </a:r>
        </a:p>
      </dgm:t>
    </dgm:pt>
    <dgm:pt modelId="{E372BC41-EEA0-45CB-A66D-2C497554888A}" type="parTrans" cxnId="{228EBC28-1396-4D62-BC1A-6E884F4EA18E}">
      <dgm:prSet/>
      <dgm:spPr/>
      <dgm:t>
        <a:bodyPr/>
        <a:lstStyle/>
        <a:p>
          <a:endParaRPr lang="pt-BR"/>
        </a:p>
      </dgm:t>
    </dgm:pt>
    <dgm:pt modelId="{549F2226-F7D8-41F9-ACA7-11712389CE05}" type="sibTrans" cxnId="{228EBC28-1396-4D62-BC1A-6E884F4EA18E}">
      <dgm:prSet/>
      <dgm:spPr/>
      <dgm:t>
        <a:bodyPr/>
        <a:lstStyle/>
        <a:p>
          <a:endParaRPr lang="pt-BR"/>
        </a:p>
      </dgm:t>
    </dgm:pt>
    <dgm:pt modelId="{3E6C674D-F720-47F6-84BE-C58881478C5F}">
      <dgm:prSet custT="1"/>
      <dgm:spPr/>
      <dgm:t>
        <a:bodyPr/>
        <a:lstStyle/>
        <a:p>
          <a:pPr rtl="0"/>
          <a:r>
            <a:rPr lang="pt-BR" sz="1600" b="1" dirty="0"/>
            <a:t>Afretamento por tempo (Time Charter)</a:t>
          </a:r>
        </a:p>
      </dgm:t>
    </dgm:pt>
    <dgm:pt modelId="{988026F5-0088-4694-B751-19DAD63A2E9F}" type="parTrans" cxnId="{A8B0E3CA-8181-4C58-A3C1-6DE4D63DC23C}">
      <dgm:prSet/>
      <dgm:spPr/>
      <dgm:t>
        <a:bodyPr/>
        <a:lstStyle/>
        <a:p>
          <a:endParaRPr lang="pt-BR"/>
        </a:p>
      </dgm:t>
    </dgm:pt>
    <dgm:pt modelId="{A2F5CCF9-6D83-4D94-B47D-33EEB59AF186}" type="sibTrans" cxnId="{A8B0E3CA-8181-4C58-A3C1-6DE4D63DC23C}">
      <dgm:prSet/>
      <dgm:spPr/>
      <dgm:t>
        <a:bodyPr/>
        <a:lstStyle/>
        <a:p>
          <a:endParaRPr lang="pt-BR"/>
        </a:p>
      </dgm:t>
    </dgm:pt>
    <dgm:pt modelId="{0B589337-7EAA-47DA-8C38-8661E8A473A8}" type="pres">
      <dgm:prSet presAssocID="{80DC7D56-E338-4827-BAD6-4C1A67F6580B}" presName="linearFlow" presStyleCnt="0">
        <dgm:presLayoutVars>
          <dgm:dir/>
          <dgm:animLvl val="lvl"/>
          <dgm:resizeHandles val="exact"/>
        </dgm:presLayoutVars>
      </dgm:prSet>
      <dgm:spPr/>
    </dgm:pt>
    <dgm:pt modelId="{A1D6DC95-6921-4038-8ED6-11279002B7EA}" type="pres">
      <dgm:prSet presAssocID="{702AC0D9-46CD-4885-9A29-5BD54B4834C2}" presName="composite" presStyleCnt="0"/>
      <dgm:spPr/>
    </dgm:pt>
    <dgm:pt modelId="{536653B4-D338-40ED-AEAC-A9163FEF0912}" type="pres">
      <dgm:prSet presAssocID="{702AC0D9-46CD-4885-9A29-5BD54B4834C2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92AA5C0-80A0-4C53-A220-2ED115C74297}" type="pres">
      <dgm:prSet presAssocID="{702AC0D9-46CD-4885-9A29-5BD54B4834C2}" presName="descendantText" presStyleLbl="alignAcc1" presStyleIdx="0" presStyleCnt="3">
        <dgm:presLayoutVars>
          <dgm:bulletEnabled val="1"/>
        </dgm:presLayoutVars>
      </dgm:prSet>
      <dgm:spPr/>
    </dgm:pt>
    <dgm:pt modelId="{8C12B270-F383-4489-AC6F-F22AF36553E9}" type="pres">
      <dgm:prSet presAssocID="{6A50F3B5-0BE7-4772-9F43-90A774AAB9F5}" presName="sp" presStyleCnt="0"/>
      <dgm:spPr/>
    </dgm:pt>
    <dgm:pt modelId="{1947DB3A-2C39-42ED-BAEB-8F9D4CB00405}" type="pres">
      <dgm:prSet presAssocID="{C1A3872A-C35A-465D-8CCD-BB682B02ACA9}" presName="composite" presStyleCnt="0"/>
      <dgm:spPr/>
    </dgm:pt>
    <dgm:pt modelId="{54BF4A9C-D565-405C-80E4-B816AFA0FCE3}" type="pres">
      <dgm:prSet presAssocID="{C1A3872A-C35A-465D-8CCD-BB682B02ACA9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6739402B-518B-4D13-8E54-ED7BFAADE28D}" type="pres">
      <dgm:prSet presAssocID="{C1A3872A-C35A-465D-8CCD-BB682B02ACA9}" presName="descendantText" presStyleLbl="alignAcc1" presStyleIdx="1" presStyleCnt="3">
        <dgm:presLayoutVars>
          <dgm:bulletEnabled val="1"/>
        </dgm:presLayoutVars>
      </dgm:prSet>
      <dgm:spPr/>
    </dgm:pt>
    <dgm:pt modelId="{D8D1A802-7070-4BB9-85F2-7EFC7E48C801}" type="pres">
      <dgm:prSet presAssocID="{E57C4C2D-A9BB-45AB-A099-116E532AA067}" presName="sp" presStyleCnt="0"/>
      <dgm:spPr/>
    </dgm:pt>
    <dgm:pt modelId="{F5D6F892-750D-4C49-91C7-EC8722195CAF}" type="pres">
      <dgm:prSet presAssocID="{967EF370-239E-4914-98F8-0847AC8AE626}" presName="composite" presStyleCnt="0"/>
      <dgm:spPr/>
    </dgm:pt>
    <dgm:pt modelId="{198C529B-9ACC-4BF1-8DD4-F7BCB2DBAE48}" type="pres">
      <dgm:prSet presAssocID="{967EF370-239E-4914-98F8-0847AC8AE626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AE5D743-06A5-4171-82DB-4C46CC98B710}" type="pres">
      <dgm:prSet presAssocID="{967EF370-239E-4914-98F8-0847AC8AE626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A6D67B11-3298-452E-8487-C3F46A928339}" srcId="{80DC7D56-E338-4827-BAD6-4C1A67F6580B}" destId="{C1A3872A-C35A-465D-8CCD-BB682B02ACA9}" srcOrd="1" destOrd="0" parTransId="{77468A18-DE66-43F4-9E55-C6279C3878EC}" sibTransId="{E57C4C2D-A9BB-45AB-A099-116E532AA067}"/>
    <dgm:cxn modelId="{5B9D9022-F743-440C-B785-A8CEF0231331}" type="presOf" srcId="{702AC0D9-46CD-4885-9A29-5BD54B4834C2}" destId="{536653B4-D338-40ED-AEAC-A9163FEF0912}" srcOrd="0" destOrd="0" presId="urn:microsoft.com/office/officeart/2005/8/layout/chevron2"/>
    <dgm:cxn modelId="{43CE0427-E617-41EE-A40F-E75FEBC08BB4}" type="presOf" srcId="{967EF370-239E-4914-98F8-0847AC8AE626}" destId="{198C529B-9ACC-4BF1-8DD4-F7BCB2DBAE48}" srcOrd="0" destOrd="0" presId="urn:microsoft.com/office/officeart/2005/8/layout/chevron2"/>
    <dgm:cxn modelId="{228EBC28-1396-4D62-BC1A-6E884F4EA18E}" srcId="{80DC7D56-E338-4827-BAD6-4C1A67F6580B}" destId="{967EF370-239E-4914-98F8-0847AC8AE626}" srcOrd="2" destOrd="0" parTransId="{E372BC41-EEA0-45CB-A66D-2C497554888A}" sibTransId="{549F2226-F7D8-41F9-ACA7-11712389CE05}"/>
    <dgm:cxn modelId="{9AF15A37-D03B-4E27-8C39-A00B7B8143D6}" type="presOf" srcId="{80DC7D56-E338-4827-BAD6-4C1A67F6580B}" destId="{0B589337-7EAA-47DA-8C38-8661E8A473A8}" srcOrd="0" destOrd="0" presId="urn:microsoft.com/office/officeart/2005/8/layout/chevron2"/>
    <dgm:cxn modelId="{34B03D5C-5CD2-4BB6-822C-9D4A8A4775B9}" type="presOf" srcId="{CBE30D0A-557D-44A6-938C-2A3AD59A7E2D}" destId="{E92AA5C0-80A0-4C53-A220-2ED115C74297}" srcOrd="0" destOrd="0" presId="urn:microsoft.com/office/officeart/2005/8/layout/chevron2"/>
    <dgm:cxn modelId="{AAFBAA41-9683-4713-AF4F-B5A90AC2EBCB}" srcId="{702AC0D9-46CD-4885-9A29-5BD54B4834C2}" destId="{CBE30D0A-557D-44A6-938C-2A3AD59A7E2D}" srcOrd="0" destOrd="0" parTransId="{7F4BEE1D-3CCB-4E7C-A3EF-F6064FF146EB}" sibTransId="{5AC62E40-28A5-48AF-A892-95461027AA86}"/>
    <dgm:cxn modelId="{4CD41CB0-7886-40F8-B70D-873BD50CB55E}" srcId="{80DC7D56-E338-4827-BAD6-4C1A67F6580B}" destId="{702AC0D9-46CD-4885-9A29-5BD54B4834C2}" srcOrd="0" destOrd="0" parTransId="{56465E62-1021-463B-BA3D-90064E5BA799}" sibTransId="{6A50F3B5-0BE7-4772-9F43-90A774AAB9F5}"/>
    <dgm:cxn modelId="{9014B7B9-3666-4392-93D1-7BF44FA99DCC}" type="presOf" srcId="{C1A3872A-C35A-465D-8CCD-BB682B02ACA9}" destId="{54BF4A9C-D565-405C-80E4-B816AFA0FCE3}" srcOrd="0" destOrd="0" presId="urn:microsoft.com/office/officeart/2005/8/layout/chevron2"/>
    <dgm:cxn modelId="{03C5DBC8-9E97-4528-8391-31FDE00AA64A}" type="presOf" srcId="{3E6C674D-F720-47F6-84BE-C58881478C5F}" destId="{8AE5D743-06A5-4171-82DB-4C46CC98B710}" srcOrd="0" destOrd="0" presId="urn:microsoft.com/office/officeart/2005/8/layout/chevron2"/>
    <dgm:cxn modelId="{A8B0E3CA-8181-4C58-A3C1-6DE4D63DC23C}" srcId="{967EF370-239E-4914-98F8-0847AC8AE626}" destId="{3E6C674D-F720-47F6-84BE-C58881478C5F}" srcOrd="0" destOrd="0" parTransId="{988026F5-0088-4694-B751-19DAD63A2E9F}" sibTransId="{A2F5CCF9-6D83-4D94-B47D-33EEB59AF186}"/>
    <dgm:cxn modelId="{F2B74FE1-2BC3-40C0-A77E-88F47C91482A}" srcId="{C1A3872A-C35A-465D-8CCD-BB682B02ACA9}" destId="{E431F2BF-79E0-47C9-B922-6C054349B140}" srcOrd="0" destOrd="0" parTransId="{29CC2159-3D2A-4517-9EE4-4A22F63A83D1}" sibTransId="{654E0F28-F50B-4041-AE31-CB783A4159EC}"/>
    <dgm:cxn modelId="{4BEF1FEA-66B8-42E2-9985-CEFDBC639B0B}" type="presOf" srcId="{E431F2BF-79E0-47C9-B922-6C054349B140}" destId="{6739402B-518B-4D13-8E54-ED7BFAADE28D}" srcOrd="0" destOrd="0" presId="urn:microsoft.com/office/officeart/2005/8/layout/chevron2"/>
    <dgm:cxn modelId="{77431701-A053-4B45-A271-A3D49BEE97E1}" type="presParOf" srcId="{0B589337-7EAA-47DA-8C38-8661E8A473A8}" destId="{A1D6DC95-6921-4038-8ED6-11279002B7EA}" srcOrd="0" destOrd="0" presId="urn:microsoft.com/office/officeart/2005/8/layout/chevron2"/>
    <dgm:cxn modelId="{C1EDCE1E-B481-4CCF-8970-61316E94A8EB}" type="presParOf" srcId="{A1D6DC95-6921-4038-8ED6-11279002B7EA}" destId="{536653B4-D338-40ED-AEAC-A9163FEF0912}" srcOrd="0" destOrd="0" presId="urn:microsoft.com/office/officeart/2005/8/layout/chevron2"/>
    <dgm:cxn modelId="{AD1B558B-0A47-4206-8969-EFAE0AF5CE47}" type="presParOf" srcId="{A1D6DC95-6921-4038-8ED6-11279002B7EA}" destId="{E92AA5C0-80A0-4C53-A220-2ED115C74297}" srcOrd="1" destOrd="0" presId="urn:microsoft.com/office/officeart/2005/8/layout/chevron2"/>
    <dgm:cxn modelId="{68EA2D08-DDF8-4D59-AD60-188F140AF67C}" type="presParOf" srcId="{0B589337-7EAA-47DA-8C38-8661E8A473A8}" destId="{8C12B270-F383-4489-AC6F-F22AF36553E9}" srcOrd="1" destOrd="0" presId="urn:microsoft.com/office/officeart/2005/8/layout/chevron2"/>
    <dgm:cxn modelId="{6158D983-E9CD-4F2C-8DFA-25BCEB81377B}" type="presParOf" srcId="{0B589337-7EAA-47DA-8C38-8661E8A473A8}" destId="{1947DB3A-2C39-42ED-BAEB-8F9D4CB00405}" srcOrd="2" destOrd="0" presId="urn:microsoft.com/office/officeart/2005/8/layout/chevron2"/>
    <dgm:cxn modelId="{C2A6DDC4-7B17-4A89-82C4-49ACAAA0F2DC}" type="presParOf" srcId="{1947DB3A-2C39-42ED-BAEB-8F9D4CB00405}" destId="{54BF4A9C-D565-405C-80E4-B816AFA0FCE3}" srcOrd="0" destOrd="0" presId="urn:microsoft.com/office/officeart/2005/8/layout/chevron2"/>
    <dgm:cxn modelId="{C7C29EE2-4B88-4577-A3A4-AEA4ED029E32}" type="presParOf" srcId="{1947DB3A-2C39-42ED-BAEB-8F9D4CB00405}" destId="{6739402B-518B-4D13-8E54-ED7BFAADE28D}" srcOrd="1" destOrd="0" presId="urn:microsoft.com/office/officeart/2005/8/layout/chevron2"/>
    <dgm:cxn modelId="{F3AE6045-D29E-4BE0-B4E5-10212242C297}" type="presParOf" srcId="{0B589337-7EAA-47DA-8C38-8661E8A473A8}" destId="{D8D1A802-7070-4BB9-85F2-7EFC7E48C801}" srcOrd="3" destOrd="0" presId="urn:microsoft.com/office/officeart/2005/8/layout/chevron2"/>
    <dgm:cxn modelId="{E7327F98-05BA-45C9-9451-5BF4D11264C2}" type="presParOf" srcId="{0B589337-7EAA-47DA-8C38-8661E8A473A8}" destId="{F5D6F892-750D-4C49-91C7-EC8722195CAF}" srcOrd="4" destOrd="0" presId="urn:microsoft.com/office/officeart/2005/8/layout/chevron2"/>
    <dgm:cxn modelId="{6661FE14-2005-4383-9E77-A7C36F805DB3}" type="presParOf" srcId="{F5D6F892-750D-4C49-91C7-EC8722195CAF}" destId="{198C529B-9ACC-4BF1-8DD4-F7BCB2DBAE48}" srcOrd="0" destOrd="0" presId="urn:microsoft.com/office/officeart/2005/8/layout/chevron2"/>
    <dgm:cxn modelId="{917A12A4-78B1-4342-A2AF-FC44D254FC90}" type="presParOf" srcId="{F5D6F892-750D-4C49-91C7-EC8722195CAF}" destId="{8AE5D743-06A5-4171-82DB-4C46CC98B71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091222-ED20-42A7-93C6-A7C1B8CF8605}" type="doc">
      <dgm:prSet loTypeId="urn:microsoft.com/office/officeart/2005/8/layout/chevron2" loCatId="process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pt-BR"/>
        </a:p>
      </dgm:t>
    </dgm:pt>
    <dgm:pt modelId="{2FBD54B9-E832-4D1A-A12F-F1216AB08396}">
      <dgm:prSet phldrT="[Texto]"/>
      <dgm:spPr/>
      <dgm:t>
        <a:bodyPr/>
        <a:lstStyle/>
        <a:p>
          <a:r>
            <a:rPr lang="pt-BR" dirty="0"/>
            <a:t>1</a:t>
          </a:r>
        </a:p>
      </dgm:t>
    </dgm:pt>
    <dgm:pt modelId="{DB0CD4EC-3E47-4197-BC5D-8FD949F52860}" type="parTrans" cxnId="{4A1C265D-622E-4F9E-B514-D69503C9AAA2}">
      <dgm:prSet/>
      <dgm:spPr/>
      <dgm:t>
        <a:bodyPr/>
        <a:lstStyle/>
        <a:p>
          <a:endParaRPr lang="pt-BR"/>
        </a:p>
      </dgm:t>
    </dgm:pt>
    <dgm:pt modelId="{10414B56-E973-4FDC-A34E-6CCA94417F89}" type="sibTrans" cxnId="{4A1C265D-622E-4F9E-B514-D69503C9AAA2}">
      <dgm:prSet/>
      <dgm:spPr/>
      <dgm:t>
        <a:bodyPr/>
        <a:lstStyle/>
        <a:p>
          <a:endParaRPr lang="pt-BR"/>
        </a:p>
      </dgm:t>
    </dgm:pt>
    <dgm:pt modelId="{9F0801C7-FA47-4399-8188-4B117D27D98A}">
      <dgm:prSet phldrT="[Texto]"/>
      <dgm:spPr/>
      <dgm:t>
        <a:bodyPr/>
        <a:lstStyle/>
        <a:p>
          <a:r>
            <a:rPr lang="pt-BR" b="0" dirty="0"/>
            <a:t>Para o fretador é uma operação financeira sem grandes riscos, já que não terá que buscar mercado para a operação do seu navio e receberá o aluguel antecipadamente e independentemente do uso do navio; </a:t>
          </a:r>
          <a:endParaRPr lang="pt-BR" dirty="0"/>
        </a:p>
      </dgm:t>
    </dgm:pt>
    <dgm:pt modelId="{DA5F4CAC-2A68-4A96-86E5-C986981E58E3}" type="parTrans" cxnId="{2B7F8514-4483-4E00-B682-93E8247818AF}">
      <dgm:prSet/>
      <dgm:spPr/>
      <dgm:t>
        <a:bodyPr/>
        <a:lstStyle/>
        <a:p>
          <a:endParaRPr lang="pt-BR"/>
        </a:p>
      </dgm:t>
    </dgm:pt>
    <dgm:pt modelId="{14A5131B-7C4D-4DA8-A653-DD5E62E60432}" type="sibTrans" cxnId="{2B7F8514-4483-4E00-B682-93E8247818AF}">
      <dgm:prSet/>
      <dgm:spPr/>
      <dgm:t>
        <a:bodyPr/>
        <a:lstStyle/>
        <a:p>
          <a:endParaRPr lang="pt-BR"/>
        </a:p>
      </dgm:t>
    </dgm:pt>
    <dgm:pt modelId="{27BB3FAE-9B92-4750-BD9A-192741CDEAEA}">
      <dgm:prSet/>
      <dgm:spPr/>
      <dgm:t>
        <a:bodyPr/>
        <a:lstStyle/>
        <a:p>
          <a:r>
            <a:rPr lang="pt-BR" b="0" dirty="0"/>
            <a:t>Para o afretador, a vantagem está em usar o navio para atender seus clientes sem ter que imobilizar capital ou investir na sua compra de um navio.</a:t>
          </a:r>
          <a:endParaRPr lang="pt-BR" b="1" dirty="0"/>
        </a:p>
      </dgm:t>
    </dgm:pt>
    <dgm:pt modelId="{8BB23C9B-C2E9-41F9-83C7-E5096190EA1E}" type="parTrans" cxnId="{8C79251C-745E-4AE7-87CB-A7F59524E8E5}">
      <dgm:prSet/>
      <dgm:spPr/>
      <dgm:t>
        <a:bodyPr/>
        <a:lstStyle/>
        <a:p>
          <a:endParaRPr lang="pt-BR"/>
        </a:p>
      </dgm:t>
    </dgm:pt>
    <dgm:pt modelId="{4BBC4B13-B6D5-4914-B346-7B15080F4377}" type="sibTrans" cxnId="{8C79251C-745E-4AE7-87CB-A7F59524E8E5}">
      <dgm:prSet/>
      <dgm:spPr/>
      <dgm:t>
        <a:bodyPr/>
        <a:lstStyle/>
        <a:p>
          <a:endParaRPr lang="pt-BR"/>
        </a:p>
      </dgm:t>
    </dgm:pt>
    <dgm:pt modelId="{FE619991-E79E-4013-B93A-BA369BD32FC4}">
      <dgm:prSet/>
      <dgm:spPr/>
      <dgm:t>
        <a:bodyPr/>
        <a:lstStyle/>
        <a:p>
          <a:r>
            <a:rPr lang="pt-BR" b="0" dirty="0"/>
            <a:t>Outra vantagem é que o afretador acaba se tornando um especialista na gestão comercial do navio, tendo muito mais acesso aos clientes e com maior conhecimento do máximo valor a ser explorado com o uso do navio. Assim, o negócio acaba sendo mais lucrativo para todos.</a:t>
          </a:r>
          <a:endParaRPr lang="pt-BR" b="1" dirty="0"/>
        </a:p>
      </dgm:t>
    </dgm:pt>
    <dgm:pt modelId="{3D7D6560-08F9-40E6-AC2B-D156D589E048}" type="parTrans" cxnId="{504FBE23-A472-42AA-A3A1-08F27685A2AD}">
      <dgm:prSet/>
      <dgm:spPr/>
      <dgm:t>
        <a:bodyPr/>
        <a:lstStyle/>
        <a:p>
          <a:endParaRPr lang="pt-BR"/>
        </a:p>
      </dgm:t>
    </dgm:pt>
    <dgm:pt modelId="{25A3DC77-409A-46D1-8B86-B2883CAC94D7}" type="sibTrans" cxnId="{504FBE23-A472-42AA-A3A1-08F27685A2AD}">
      <dgm:prSet/>
      <dgm:spPr/>
      <dgm:t>
        <a:bodyPr/>
        <a:lstStyle/>
        <a:p>
          <a:endParaRPr lang="pt-BR"/>
        </a:p>
      </dgm:t>
    </dgm:pt>
    <dgm:pt modelId="{635161A4-26F0-4044-B221-334544D6A31A}">
      <dgm:prSet phldrT="[Texto]"/>
      <dgm:spPr/>
      <dgm:t>
        <a:bodyPr/>
        <a:lstStyle/>
        <a:p>
          <a:r>
            <a:rPr lang="pt-BR" dirty="0"/>
            <a:t>2</a:t>
          </a:r>
        </a:p>
      </dgm:t>
    </dgm:pt>
    <dgm:pt modelId="{FA57FEEC-D69C-4A89-A874-1840F046DDDB}" type="parTrans" cxnId="{B196CA42-0608-4C69-96BC-6434A46F5F01}">
      <dgm:prSet/>
      <dgm:spPr/>
      <dgm:t>
        <a:bodyPr/>
        <a:lstStyle/>
        <a:p>
          <a:endParaRPr lang="pt-BR"/>
        </a:p>
      </dgm:t>
    </dgm:pt>
    <dgm:pt modelId="{8BB84B4F-38CF-4DA9-A61A-B3526B4157F5}" type="sibTrans" cxnId="{B196CA42-0608-4C69-96BC-6434A46F5F01}">
      <dgm:prSet/>
      <dgm:spPr/>
      <dgm:t>
        <a:bodyPr/>
        <a:lstStyle/>
        <a:p>
          <a:endParaRPr lang="pt-BR"/>
        </a:p>
      </dgm:t>
    </dgm:pt>
    <dgm:pt modelId="{AED3CA98-C2FC-4161-BF17-4BE903BA9211}">
      <dgm:prSet/>
      <dgm:spPr/>
      <dgm:t>
        <a:bodyPr/>
        <a:lstStyle/>
        <a:p>
          <a:r>
            <a:rPr lang="pt-BR" b="1" dirty="0"/>
            <a:t>3</a:t>
          </a:r>
        </a:p>
      </dgm:t>
    </dgm:pt>
    <dgm:pt modelId="{29E9AA06-6B4A-4C53-A17F-257AAE0D574F}" type="parTrans" cxnId="{50EC7272-079C-4A5C-9266-AE796C3551F7}">
      <dgm:prSet/>
      <dgm:spPr/>
      <dgm:t>
        <a:bodyPr/>
        <a:lstStyle/>
        <a:p>
          <a:endParaRPr lang="pt-BR"/>
        </a:p>
      </dgm:t>
    </dgm:pt>
    <dgm:pt modelId="{F8CE3F3C-FF43-4F3C-903A-B5950B8FCF05}" type="sibTrans" cxnId="{50EC7272-079C-4A5C-9266-AE796C3551F7}">
      <dgm:prSet/>
      <dgm:spPr/>
      <dgm:t>
        <a:bodyPr/>
        <a:lstStyle/>
        <a:p>
          <a:endParaRPr lang="pt-BR"/>
        </a:p>
      </dgm:t>
    </dgm:pt>
    <dgm:pt modelId="{49A9577C-FD78-45AE-9558-9ED9CD23B0EF}" type="pres">
      <dgm:prSet presAssocID="{E4091222-ED20-42A7-93C6-A7C1B8CF8605}" presName="linearFlow" presStyleCnt="0">
        <dgm:presLayoutVars>
          <dgm:dir/>
          <dgm:animLvl val="lvl"/>
          <dgm:resizeHandles val="exact"/>
        </dgm:presLayoutVars>
      </dgm:prSet>
      <dgm:spPr/>
    </dgm:pt>
    <dgm:pt modelId="{03A33743-4C2E-4709-95B9-E67A5F411E98}" type="pres">
      <dgm:prSet presAssocID="{2FBD54B9-E832-4D1A-A12F-F1216AB08396}" presName="composite" presStyleCnt="0"/>
      <dgm:spPr/>
    </dgm:pt>
    <dgm:pt modelId="{14A195E9-34A1-4EEA-A61C-F877E094BF9E}" type="pres">
      <dgm:prSet presAssocID="{2FBD54B9-E832-4D1A-A12F-F1216AB08396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C531B554-8D37-4F66-BE58-98623B24C37D}" type="pres">
      <dgm:prSet presAssocID="{2FBD54B9-E832-4D1A-A12F-F1216AB08396}" presName="descendantText" presStyleLbl="alignAcc1" presStyleIdx="0" presStyleCnt="3">
        <dgm:presLayoutVars>
          <dgm:bulletEnabled val="1"/>
        </dgm:presLayoutVars>
      </dgm:prSet>
      <dgm:spPr/>
    </dgm:pt>
    <dgm:pt modelId="{13D70C7A-496E-4F18-A417-A87C95F3467E}" type="pres">
      <dgm:prSet presAssocID="{10414B56-E973-4FDC-A34E-6CCA94417F89}" presName="sp" presStyleCnt="0"/>
      <dgm:spPr/>
    </dgm:pt>
    <dgm:pt modelId="{8DE962E4-728E-41B0-9521-620CFE1159D4}" type="pres">
      <dgm:prSet presAssocID="{635161A4-26F0-4044-B221-334544D6A31A}" presName="composite" presStyleCnt="0"/>
      <dgm:spPr/>
    </dgm:pt>
    <dgm:pt modelId="{4A0CDC38-C5D3-4660-89D1-B0C0EBEAC81C}" type="pres">
      <dgm:prSet presAssocID="{635161A4-26F0-4044-B221-334544D6A31A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E4323A77-00B5-4793-8447-F8BC7B3AEB55}" type="pres">
      <dgm:prSet presAssocID="{635161A4-26F0-4044-B221-334544D6A31A}" presName="descendantText" presStyleLbl="alignAcc1" presStyleIdx="1" presStyleCnt="3">
        <dgm:presLayoutVars>
          <dgm:bulletEnabled val="1"/>
        </dgm:presLayoutVars>
      </dgm:prSet>
      <dgm:spPr/>
    </dgm:pt>
    <dgm:pt modelId="{44772313-284E-4683-BADE-C36C4E989285}" type="pres">
      <dgm:prSet presAssocID="{8BB84B4F-38CF-4DA9-A61A-B3526B4157F5}" presName="sp" presStyleCnt="0"/>
      <dgm:spPr/>
    </dgm:pt>
    <dgm:pt modelId="{EEFF61D9-B61B-401C-A4C1-52CF2DBAD7EB}" type="pres">
      <dgm:prSet presAssocID="{AED3CA98-C2FC-4161-BF17-4BE903BA9211}" presName="composite" presStyleCnt="0"/>
      <dgm:spPr/>
    </dgm:pt>
    <dgm:pt modelId="{0E354547-16E5-439D-BA87-5555F18A27FA}" type="pres">
      <dgm:prSet presAssocID="{AED3CA98-C2FC-4161-BF17-4BE903BA921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50326CE-83D1-46AE-A7A7-8E206FC0547A}" type="pres">
      <dgm:prSet presAssocID="{AED3CA98-C2FC-4161-BF17-4BE903BA921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B7F8514-4483-4E00-B682-93E8247818AF}" srcId="{2FBD54B9-E832-4D1A-A12F-F1216AB08396}" destId="{9F0801C7-FA47-4399-8188-4B117D27D98A}" srcOrd="0" destOrd="0" parTransId="{DA5F4CAC-2A68-4A96-86E5-C986981E58E3}" sibTransId="{14A5131B-7C4D-4DA8-A653-DD5E62E60432}"/>
    <dgm:cxn modelId="{8C79251C-745E-4AE7-87CB-A7F59524E8E5}" srcId="{635161A4-26F0-4044-B221-334544D6A31A}" destId="{27BB3FAE-9B92-4750-BD9A-192741CDEAEA}" srcOrd="0" destOrd="0" parTransId="{8BB23C9B-C2E9-41F9-83C7-E5096190EA1E}" sibTransId="{4BBC4B13-B6D5-4914-B346-7B15080F4377}"/>
    <dgm:cxn modelId="{504FBE23-A472-42AA-A3A1-08F27685A2AD}" srcId="{AED3CA98-C2FC-4161-BF17-4BE903BA9211}" destId="{FE619991-E79E-4013-B93A-BA369BD32FC4}" srcOrd="0" destOrd="0" parTransId="{3D7D6560-08F9-40E6-AC2B-D156D589E048}" sibTransId="{25A3DC77-409A-46D1-8B86-B2883CAC94D7}"/>
    <dgm:cxn modelId="{0B98E035-51F2-40C0-A098-32B4FB5AD319}" type="presOf" srcId="{635161A4-26F0-4044-B221-334544D6A31A}" destId="{4A0CDC38-C5D3-4660-89D1-B0C0EBEAC81C}" srcOrd="0" destOrd="0" presId="urn:microsoft.com/office/officeart/2005/8/layout/chevron2"/>
    <dgm:cxn modelId="{4A1C265D-622E-4F9E-B514-D69503C9AAA2}" srcId="{E4091222-ED20-42A7-93C6-A7C1B8CF8605}" destId="{2FBD54B9-E832-4D1A-A12F-F1216AB08396}" srcOrd="0" destOrd="0" parTransId="{DB0CD4EC-3E47-4197-BC5D-8FD949F52860}" sibTransId="{10414B56-E973-4FDC-A34E-6CCA94417F89}"/>
    <dgm:cxn modelId="{B196CA42-0608-4C69-96BC-6434A46F5F01}" srcId="{E4091222-ED20-42A7-93C6-A7C1B8CF8605}" destId="{635161A4-26F0-4044-B221-334544D6A31A}" srcOrd="1" destOrd="0" parTransId="{FA57FEEC-D69C-4A89-A874-1840F046DDDB}" sibTransId="{8BB84B4F-38CF-4DA9-A61A-B3526B4157F5}"/>
    <dgm:cxn modelId="{48EDB166-DE27-4D9A-8957-65DE69B31825}" type="presOf" srcId="{E4091222-ED20-42A7-93C6-A7C1B8CF8605}" destId="{49A9577C-FD78-45AE-9558-9ED9CD23B0EF}" srcOrd="0" destOrd="0" presId="urn:microsoft.com/office/officeart/2005/8/layout/chevron2"/>
    <dgm:cxn modelId="{50EC7272-079C-4A5C-9266-AE796C3551F7}" srcId="{E4091222-ED20-42A7-93C6-A7C1B8CF8605}" destId="{AED3CA98-C2FC-4161-BF17-4BE903BA9211}" srcOrd="2" destOrd="0" parTransId="{29E9AA06-6B4A-4C53-A17F-257AAE0D574F}" sibTransId="{F8CE3F3C-FF43-4F3C-903A-B5950B8FCF05}"/>
    <dgm:cxn modelId="{2688C758-9DC8-48E4-B447-D767CE20A52D}" type="presOf" srcId="{9F0801C7-FA47-4399-8188-4B117D27D98A}" destId="{C531B554-8D37-4F66-BE58-98623B24C37D}" srcOrd="0" destOrd="0" presId="urn:microsoft.com/office/officeart/2005/8/layout/chevron2"/>
    <dgm:cxn modelId="{0778569D-6BAC-482E-881B-7CCA0DA21E04}" type="presOf" srcId="{FE619991-E79E-4013-B93A-BA369BD32FC4}" destId="{350326CE-83D1-46AE-A7A7-8E206FC0547A}" srcOrd="0" destOrd="0" presId="urn:microsoft.com/office/officeart/2005/8/layout/chevron2"/>
    <dgm:cxn modelId="{4AADD2B8-5B0B-4AD3-87B9-512CFB52ADF7}" type="presOf" srcId="{27BB3FAE-9B92-4750-BD9A-192741CDEAEA}" destId="{E4323A77-00B5-4793-8447-F8BC7B3AEB55}" srcOrd="0" destOrd="0" presId="urn:microsoft.com/office/officeart/2005/8/layout/chevron2"/>
    <dgm:cxn modelId="{43D14BE4-7E8A-4B41-8511-DAF97DD70033}" type="presOf" srcId="{2FBD54B9-E832-4D1A-A12F-F1216AB08396}" destId="{14A195E9-34A1-4EEA-A61C-F877E094BF9E}" srcOrd="0" destOrd="0" presId="urn:microsoft.com/office/officeart/2005/8/layout/chevron2"/>
    <dgm:cxn modelId="{3101CEFA-2E35-47A2-90D4-5DBE8D9508EA}" type="presOf" srcId="{AED3CA98-C2FC-4161-BF17-4BE903BA9211}" destId="{0E354547-16E5-439D-BA87-5555F18A27FA}" srcOrd="0" destOrd="0" presId="urn:microsoft.com/office/officeart/2005/8/layout/chevron2"/>
    <dgm:cxn modelId="{3D301108-4150-4492-8DDB-52118BDD3BB7}" type="presParOf" srcId="{49A9577C-FD78-45AE-9558-9ED9CD23B0EF}" destId="{03A33743-4C2E-4709-95B9-E67A5F411E98}" srcOrd="0" destOrd="0" presId="urn:microsoft.com/office/officeart/2005/8/layout/chevron2"/>
    <dgm:cxn modelId="{0DEFEC7A-B0AC-4C0D-B5FF-5D4661C6EABC}" type="presParOf" srcId="{03A33743-4C2E-4709-95B9-E67A5F411E98}" destId="{14A195E9-34A1-4EEA-A61C-F877E094BF9E}" srcOrd="0" destOrd="0" presId="urn:microsoft.com/office/officeart/2005/8/layout/chevron2"/>
    <dgm:cxn modelId="{82183951-8C1B-426B-955F-B36B5EF7AE27}" type="presParOf" srcId="{03A33743-4C2E-4709-95B9-E67A5F411E98}" destId="{C531B554-8D37-4F66-BE58-98623B24C37D}" srcOrd="1" destOrd="0" presId="urn:microsoft.com/office/officeart/2005/8/layout/chevron2"/>
    <dgm:cxn modelId="{20DB9D1E-E847-4A97-9C9B-F382B9D9B3B5}" type="presParOf" srcId="{49A9577C-FD78-45AE-9558-9ED9CD23B0EF}" destId="{13D70C7A-496E-4F18-A417-A87C95F3467E}" srcOrd="1" destOrd="0" presId="urn:microsoft.com/office/officeart/2005/8/layout/chevron2"/>
    <dgm:cxn modelId="{F88FE711-E949-4141-8D91-EE285B42537A}" type="presParOf" srcId="{49A9577C-FD78-45AE-9558-9ED9CD23B0EF}" destId="{8DE962E4-728E-41B0-9521-620CFE1159D4}" srcOrd="2" destOrd="0" presId="urn:microsoft.com/office/officeart/2005/8/layout/chevron2"/>
    <dgm:cxn modelId="{B8B39C3F-381C-4435-8AE3-AF29C3D01C49}" type="presParOf" srcId="{8DE962E4-728E-41B0-9521-620CFE1159D4}" destId="{4A0CDC38-C5D3-4660-89D1-B0C0EBEAC81C}" srcOrd="0" destOrd="0" presId="urn:microsoft.com/office/officeart/2005/8/layout/chevron2"/>
    <dgm:cxn modelId="{47A6CAD9-6B0C-461E-8839-23D444EFD495}" type="presParOf" srcId="{8DE962E4-728E-41B0-9521-620CFE1159D4}" destId="{E4323A77-00B5-4793-8447-F8BC7B3AEB55}" srcOrd="1" destOrd="0" presId="urn:microsoft.com/office/officeart/2005/8/layout/chevron2"/>
    <dgm:cxn modelId="{26A15C3B-04E1-4960-AC23-01D2B1D683F4}" type="presParOf" srcId="{49A9577C-FD78-45AE-9558-9ED9CD23B0EF}" destId="{44772313-284E-4683-BADE-C36C4E989285}" srcOrd="3" destOrd="0" presId="urn:microsoft.com/office/officeart/2005/8/layout/chevron2"/>
    <dgm:cxn modelId="{FE320526-77AF-442E-AA7C-BFA6CA538D71}" type="presParOf" srcId="{49A9577C-FD78-45AE-9558-9ED9CD23B0EF}" destId="{EEFF61D9-B61B-401C-A4C1-52CF2DBAD7EB}" srcOrd="4" destOrd="0" presId="urn:microsoft.com/office/officeart/2005/8/layout/chevron2"/>
    <dgm:cxn modelId="{EB4B40F1-FF41-400C-9DF5-DEEFB518565C}" type="presParOf" srcId="{EEFF61D9-B61B-401C-A4C1-52CF2DBAD7EB}" destId="{0E354547-16E5-439D-BA87-5555F18A27FA}" srcOrd="0" destOrd="0" presId="urn:microsoft.com/office/officeart/2005/8/layout/chevron2"/>
    <dgm:cxn modelId="{53B0AD72-6D5E-48C8-AE24-A1CF177CE1AF}" type="presParOf" srcId="{EEFF61D9-B61B-401C-A4C1-52CF2DBAD7EB}" destId="{350326CE-83D1-46AE-A7A7-8E206FC0547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093DE8-49F2-4D1C-8ECF-27DC048A56CD}" type="doc">
      <dgm:prSet loTypeId="urn:microsoft.com/office/officeart/2005/8/layout/chevron2" loCatId="process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pt-BR"/>
        </a:p>
      </dgm:t>
    </dgm:pt>
    <dgm:pt modelId="{D7763CAF-5361-4A9B-9315-F364C3DA616D}">
      <dgm:prSet/>
      <dgm:spPr/>
      <dgm:t>
        <a:bodyPr/>
        <a:lstStyle/>
        <a:p>
          <a:pPr rtl="0"/>
          <a:r>
            <a:rPr lang="pt-BR" dirty="0"/>
            <a:t>Para o fretador, a exploração comercial do navio poderia ser muito mais rentável do que seu simples aluguel. Ou seja, o proprietário do navio permite que um terceiro tenha ganhos na exploração comercial do seu navio; </a:t>
          </a:r>
          <a:endParaRPr lang="pt-BR" b="1" dirty="0"/>
        </a:p>
      </dgm:t>
    </dgm:pt>
    <dgm:pt modelId="{4EE24E72-FA53-47E3-9F3F-DB0CBB56080E}" type="parTrans" cxnId="{A24FFFE3-CB41-4C65-AE9B-6A2A283E4A51}">
      <dgm:prSet/>
      <dgm:spPr/>
      <dgm:t>
        <a:bodyPr/>
        <a:lstStyle/>
        <a:p>
          <a:endParaRPr lang="pt-BR"/>
        </a:p>
      </dgm:t>
    </dgm:pt>
    <dgm:pt modelId="{B02A2DF8-8F42-47DF-9617-60C0A3B23DAF}" type="sibTrans" cxnId="{A24FFFE3-CB41-4C65-AE9B-6A2A283E4A51}">
      <dgm:prSet/>
      <dgm:spPr/>
      <dgm:t>
        <a:bodyPr/>
        <a:lstStyle/>
        <a:p>
          <a:endParaRPr lang="pt-BR"/>
        </a:p>
      </dgm:t>
    </dgm:pt>
    <dgm:pt modelId="{50F4ED52-6198-49D6-AF46-C5D71F342660}">
      <dgm:prSet/>
      <dgm:spPr/>
      <dgm:t>
        <a:bodyPr/>
        <a:lstStyle/>
        <a:p>
          <a:pPr rtl="0"/>
          <a:r>
            <a:rPr lang="pt-BR" dirty="0"/>
            <a:t>Para o afretador, a desvantagens está nos riscos do negócio de transporte marítimo. Como esses riscos não são compartilhados pelo fretador, o afretador deverá arcar com todos os prejuízos que uma queda na demanda mundial de transporte poderá acarretar.</a:t>
          </a:r>
          <a:endParaRPr lang="pt-BR" b="1" dirty="0"/>
        </a:p>
      </dgm:t>
    </dgm:pt>
    <dgm:pt modelId="{04978BC9-F545-4740-B154-FBD1AD39D776}" type="parTrans" cxnId="{406E626C-D9BA-410B-9D68-CC5CA7E267AC}">
      <dgm:prSet/>
      <dgm:spPr/>
      <dgm:t>
        <a:bodyPr/>
        <a:lstStyle/>
        <a:p>
          <a:endParaRPr lang="pt-BR"/>
        </a:p>
      </dgm:t>
    </dgm:pt>
    <dgm:pt modelId="{5C207595-964D-480E-91D1-E8362EE0886F}" type="sibTrans" cxnId="{406E626C-D9BA-410B-9D68-CC5CA7E267AC}">
      <dgm:prSet/>
      <dgm:spPr/>
      <dgm:t>
        <a:bodyPr/>
        <a:lstStyle/>
        <a:p>
          <a:endParaRPr lang="pt-BR"/>
        </a:p>
      </dgm:t>
    </dgm:pt>
    <dgm:pt modelId="{E095D918-AC92-468C-87F1-3D550B1CE828}">
      <dgm:prSet/>
      <dgm:spPr/>
      <dgm:t>
        <a:bodyPr/>
        <a:lstStyle/>
        <a:p>
          <a:pPr rtl="0"/>
          <a:r>
            <a:rPr lang="pt-BR" b="1" dirty="0"/>
            <a:t>1</a:t>
          </a:r>
        </a:p>
      </dgm:t>
    </dgm:pt>
    <dgm:pt modelId="{6630C5BB-6170-4BD1-A9AD-39258082A462}" type="parTrans" cxnId="{43EA37EF-FC5E-400A-992C-B912693BE5C0}">
      <dgm:prSet/>
      <dgm:spPr/>
      <dgm:t>
        <a:bodyPr/>
        <a:lstStyle/>
        <a:p>
          <a:endParaRPr lang="pt-BR"/>
        </a:p>
      </dgm:t>
    </dgm:pt>
    <dgm:pt modelId="{F6D2CF62-29EE-4C0A-876C-9A0F6E93E328}" type="sibTrans" cxnId="{43EA37EF-FC5E-400A-992C-B912693BE5C0}">
      <dgm:prSet/>
      <dgm:spPr/>
      <dgm:t>
        <a:bodyPr/>
        <a:lstStyle/>
        <a:p>
          <a:endParaRPr lang="pt-BR"/>
        </a:p>
      </dgm:t>
    </dgm:pt>
    <dgm:pt modelId="{5286440E-0B9A-4ED5-B939-FC4641354826}">
      <dgm:prSet/>
      <dgm:spPr/>
      <dgm:t>
        <a:bodyPr/>
        <a:lstStyle/>
        <a:p>
          <a:pPr rtl="0"/>
          <a:r>
            <a:rPr lang="pt-BR" b="1" dirty="0"/>
            <a:t>2</a:t>
          </a:r>
        </a:p>
      </dgm:t>
    </dgm:pt>
    <dgm:pt modelId="{50BED3E5-9D2D-40D9-A6A9-66112BA35C6A}" type="parTrans" cxnId="{26FDB183-596D-4B15-8ACF-423EAB5D2689}">
      <dgm:prSet/>
      <dgm:spPr/>
      <dgm:t>
        <a:bodyPr/>
        <a:lstStyle/>
        <a:p>
          <a:endParaRPr lang="pt-BR"/>
        </a:p>
      </dgm:t>
    </dgm:pt>
    <dgm:pt modelId="{5F6B3227-7816-48A4-8370-F1623543A29B}" type="sibTrans" cxnId="{26FDB183-596D-4B15-8ACF-423EAB5D2689}">
      <dgm:prSet/>
      <dgm:spPr/>
      <dgm:t>
        <a:bodyPr/>
        <a:lstStyle/>
        <a:p>
          <a:endParaRPr lang="pt-BR"/>
        </a:p>
      </dgm:t>
    </dgm:pt>
    <dgm:pt modelId="{945ACDBF-F429-4299-8017-0CB694E9CFFA}" type="pres">
      <dgm:prSet presAssocID="{23093DE8-49F2-4D1C-8ECF-27DC048A56CD}" presName="linearFlow" presStyleCnt="0">
        <dgm:presLayoutVars>
          <dgm:dir/>
          <dgm:animLvl val="lvl"/>
          <dgm:resizeHandles val="exact"/>
        </dgm:presLayoutVars>
      </dgm:prSet>
      <dgm:spPr/>
    </dgm:pt>
    <dgm:pt modelId="{48C989B0-17A1-430E-BE8A-FF6396005884}" type="pres">
      <dgm:prSet presAssocID="{E095D918-AC92-468C-87F1-3D550B1CE828}" presName="composite" presStyleCnt="0"/>
      <dgm:spPr/>
    </dgm:pt>
    <dgm:pt modelId="{9ED9869B-10FE-4387-B538-2503583BEA94}" type="pres">
      <dgm:prSet presAssocID="{E095D918-AC92-468C-87F1-3D550B1CE828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61C7E290-4AA1-47E0-A67E-573C27AD3745}" type="pres">
      <dgm:prSet presAssocID="{E095D918-AC92-468C-87F1-3D550B1CE828}" presName="descendantText" presStyleLbl="alignAcc1" presStyleIdx="0" presStyleCnt="2">
        <dgm:presLayoutVars>
          <dgm:bulletEnabled val="1"/>
        </dgm:presLayoutVars>
      </dgm:prSet>
      <dgm:spPr/>
    </dgm:pt>
    <dgm:pt modelId="{C605B138-61E2-41DB-97C4-ABFEDC730884}" type="pres">
      <dgm:prSet presAssocID="{F6D2CF62-29EE-4C0A-876C-9A0F6E93E328}" presName="sp" presStyleCnt="0"/>
      <dgm:spPr/>
    </dgm:pt>
    <dgm:pt modelId="{59C266FB-6FF3-4D5C-996B-3F8C72E34DDF}" type="pres">
      <dgm:prSet presAssocID="{5286440E-0B9A-4ED5-B939-FC4641354826}" presName="composite" presStyleCnt="0"/>
      <dgm:spPr/>
    </dgm:pt>
    <dgm:pt modelId="{2AE554B3-3AF6-46D1-903A-613BFF1BF283}" type="pres">
      <dgm:prSet presAssocID="{5286440E-0B9A-4ED5-B939-FC4641354826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26D49B08-BDFC-4057-A255-B49A65CB6FBF}" type="pres">
      <dgm:prSet presAssocID="{5286440E-0B9A-4ED5-B939-FC4641354826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72699547-F0B0-4D71-86DC-322B63593AB5}" type="presOf" srcId="{23093DE8-49F2-4D1C-8ECF-27DC048A56CD}" destId="{945ACDBF-F429-4299-8017-0CB694E9CFFA}" srcOrd="0" destOrd="0" presId="urn:microsoft.com/office/officeart/2005/8/layout/chevron2"/>
    <dgm:cxn modelId="{406E626C-D9BA-410B-9D68-CC5CA7E267AC}" srcId="{5286440E-0B9A-4ED5-B939-FC4641354826}" destId="{50F4ED52-6198-49D6-AF46-C5D71F342660}" srcOrd="0" destOrd="0" parTransId="{04978BC9-F545-4740-B154-FBD1AD39D776}" sibTransId="{5C207595-964D-480E-91D1-E8362EE0886F}"/>
    <dgm:cxn modelId="{0B920058-27FE-4F06-916B-2FDE86281E2D}" type="presOf" srcId="{E095D918-AC92-468C-87F1-3D550B1CE828}" destId="{9ED9869B-10FE-4387-B538-2503583BEA94}" srcOrd="0" destOrd="0" presId="urn:microsoft.com/office/officeart/2005/8/layout/chevron2"/>
    <dgm:cxn modelId="{112A7F79-2967-40E7-8543-24C9AD93C7A5}" type="presOf" srcId="{D7763CAF-5361-4A9B-9315-F364C3DA616D}" destId="{61C7E290-4AA1-47E0-A67E-573C27AD3745}" srcOrd="0" destOrd="0" presId="urn:microsoft.com/office/officeart/2005/8/layout/chevron2"/>
    <dgm:cxn modelId="{26FDB183-596D-4B15-8ACF-423EAB5D2689}" srcId="{23093DE8-49F2-4D1C-8ECF-27DC048A56CD}" destId="{5286440E-0B9A-4ED5-B939-FC4641354826}" srcOrd="1" destOrd="0" parTransId="{50BED3E5-9D2D-40D9-A6A9-66112BA35C6A}" sibTransId="{5F6B3227-7816-48A4-8370-F1623543A29B}"/>
    <dgm:cxn modelId="{765F4C9F-B9B5-4C2C-A3BE-FC38A9A5DE6B}" type="presOf" srcId="{50F4ED52-6198-49D6-AF46-C5D71F342660}" destId="{26D49B08-BDFC-4057-A255-B49A65CB6FBF}" srcOrd="0" destOrd="0" presId="urn:microsoft.com/office/officeart/2005/8/layout/chevron2"/>
    <dgm:cxn modelId="{801029A4-32C8-4E94-85F2-B54B98E1690F}" type="presOf" srcId="{5286440E-0B9A-4ED5-B939-FC4641354826}" destId="{2AE554B3-3AF6-46D1-903A-613BFF1BF283}" srcOrd="0" destOrd="0" presId="urn:microsoft.com/office/officeart/2005/8/layout/chevron2"/>
    <dgm:cxn modelId="{A24FFFE3-CB41-4C65-AE9B-6A2A283E4A51}" srcId="{E095D918-AC92-468C-87F1-3D550B1CE828}" destId="{D7763CAF-5361-4A9B-9315-F364C3DA616D}" srcOrd="0" destOrd="0" parTransId="{4EE24E72-FA53-47E3-9F3F-DB0CBB56080E}" sibTransId="{B02A2DF8-8F42-47DF-9617-60C0A3B23DAF}"/>
    <dgm:cxn modelId="{43EA37EF-FC5E-400A-992C-B912693BE5C0}" srcId="{23093DE8-49F2-4D1C-8ECF-27DC048A56CD}" destId="{E095D918-AC92-468C-87F1-3D550B1CE828}" srcOrd="0" destOrd="0" parTransId="{6630C5BB-6170-4BD1-A9AD-39258082A462}" sibTransId="{F6D2CF62-29EE-4C0A-876C-9A0F6E93E328}"/>
    <dgm:cxn modelId="{A4160E6F-5CF4-4674-B6CB-4697F116C569}" type="presParOf" srcId="{945ACDBF-F429-4299-8017-0CB694E9CFFA}" destId="{48C989B0-17A1-430E-BE8A-FF6396005884}" srcOrd="0" destOrd="0" presId="urn:microsoft.com/office/officeart/2005/8/layout/chevron2"/>
    <dgm:cxn modelId="{E2F63F60-E7B5-4110-949B-495E13F937E4}" type="presParOf" srcId="{48C989B0-17A1-430E-BE8A-FF6396005884}" destId="{9ED9869B-10FE-4387-B538-2503583BEA94}" srcOrd="0" destOrd="0" presId="urn:microsoft.com/office/officeart/2005/8/layout/chevron2"/>
    <dgm:cxn modelId="{C05F318A-EB82-473B-B6C7-327BD762A9A8}" type="presParOf" srcId="{48C989B0-17A1-430E-BE8A-FF6396005884}" destId="{61C7E290-4AA1-47E0-A67E-573C27AD3745}" srcOrd="1" destOrd="0" presId="urn:microsoft.com/office/officeart/2005/8/layout/chevron2"/>
    <dgm:cxn modelId="{DDB2BB47-024D-451A-8774-F418A59B113A}" type="presParOf" srcId="{945ACDBF-F429-4299-8017-0CB694E9CFFA}" destId="{C605B138-61E2-41DB-97C4-ABFEDC730884}" srcOrd="1" destOrd="0" presId="urn:microsoft.com/office/officeart/2005/8/layout/chevron2"/>
    <dgm:cxn modelId="{C33E0513-2644-4579-8BC8-3D29F2B81C84}" type="presParOf" srcId="{945ACDBF-F429-4299-8017-0CB694E9CFFA}" destId="{59C266FB-6FF3-4D5C-996B-3F8C72E34DDF}" srcOrd="2" destOrd="0" presId="urn:microsoft.com/office/officeart/2005/8/layout/chevron2"/>
    <dgm:cxn modelId="{3C78FF88-5937-4A45-B73F-A653723D85F0}" type="presParOf" srcId="{59C266FB-6FF3-4D5C-996B-3F8C72E34DDF}" destId="{2AE554B3-3AF6-46D1-903A-613BFF1BF283}" srcOrd="0" destOrd="0" presId="urn:microsoft.com/office/officeart/2005/8/layout/chevron2"/>
    <dgm:cxn modelId="{1A5436D5-6F8B-42DA-B1A4-CAA00EF922FB}" type="presParOf" srcId="{59C266FB-6FF3-4D5C-996B-3F8C72E34DDF}" destId="{26D49B08-BDFC-4057-A255-B49A65CB6FB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653B4-D338-40ED-AEAC-A9163FEF0912}">
      <dsp:nvSpPr>
        <dsp:cNvPr id="0" name=""/>
        <dsp:cNvSpPr/>
      </dsp:nvSpPr>
      <dsp:spPr>
        <a:xfrm rot="5400000">
          <a:off x="-173690" y="174627"/>
          <a:ext cx="1157937" cy="810556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1</a:t>
          </a:r>
        </a:p>
      </dsp:txBody>
      <dsp:txXfrm rot="-5400000">
        <a:off x="1" y="406214"/>
        <a:ext cx="810556" cy="347381"/>
      </dsp:txXfrm>
    </dsp:sp>
    <dsp:sp modelId="{E92AA5C0-80A0-4C53-A220-2ED115C74297}">
      <dsp:nvSpPr>
        <dsp:cNvPr id="0" name=""/>
        <dsp:cNvSpPr/>
      </dsp:nvSpPr>
      <dsp:spPr>
        <a:xfrm rot="5400000">
          <a:off x="2457840" y="-1646347"/>
          <a:ext cx="752659" cy="404722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1" kern="1200" dirty="0"/>
            <a:t>Afretamento a casco nu </a:t>
          </a:r>
        </a:p>
      </dsp:txBody>
      <dsp:txXfrm rot="-5400000">
        <a:off x="810556" y="37679"/>
        <a:ext cx="4010485" cy="679175"/>
      </dsp:txXfrm>
    </dsp:sp>
    <dsp:sp modelId="{54BF4A9C-D565-405C-80E4-B816AFA0FCE3}">
      <dsp:nvSpPr>
        <dsp:cNvPr id="0" name=""/>
        <dsp:cNvSpPr/>
      </dsp:nvSpPr>
      <dsp:spPr>
        <a:xfrm rot="5400000">
          <a:off x="-173690" y="1130638"/>
          <a:ext cx="1157937" cy="810556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2</a:t>
          </a:r>
        </a:p>
      </dsp:txBody>
      <dsp:txXfrm rot="-5400000">
        <a:off x="1" y="1362225"/>
        <a:ext cx="810556" cy="347381"/>
      </dsp:txXfrm>
    </dsp:sp>
    <dsp:sp modelId="{6739402B-518B-4D13-8E54-ED7BFAADE28D}">
      <dsp:nvSpPr>
        <dsp:cNvPr id="0" name=""/>
        <dsp:cNvSpPr/>
      </dsp:nvSpPr>
      <dsp:spPr>
        <a:xfrm rot="5400000">
          <a:off x="2457840" y="-690335"/>
          <a:ext cx="752659" cy="404722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1" kern="1200" dirty="0"/>
            <a:t>Afretamento por viagem (Voyage Charter)</a:t>
          </a:r>
        </a:p>
      </dsp:txBody>
      <dsp:txXfrm rot="-5400000">
        <a:off x="810556" y="993691"/>
        <a:ext cx="4010485" cy="679175"/>
      </dsp:txXfrm>
    </dsp:sp>
    <dsp:sp modelId="{198C529B-9ACC-4BF1-8DD4-F7BCB2DBAE48}">
      <dsp:nvSpPr>
        <dsp:cNvPr id="0" name=""/>
        <dsp:cNvSpPr/>
      </dsp:nvSpPr>
      <dsp:spPr>
        <a:xfrm rot="5400000">
          <a:off x="-173690" y="2086650"/>
          <a:ext cx="1157937" cy="810556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3</a:t>
          </a:r>
        </a:p>
      </dsp:txBody>
      <dsp:txXfrm rot="-5400000">
        <a:off x="1" y="2318237"/>
        <a:ext cx="810556" cy="347381"/>
      </dsp:txXfrm>
    </dsp:sp>
    <dsp:sp modelId="{8AE5D743-06A5-4171-82DB-4C46CC98B710}">
      <dsp:nvSpPr>
        <dsp:cNvPr id="0" name=""/>
        <dsp:cNvSpPr/>
      </dsp:nvSpPr>
      <dsp:spPr>
        <a:xfrm rot="5400000">
          <a:off x="2457840" y="265675"/>
          <a:ext cx="752659" cy="404722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1" kern="1200" dirty="0"/>
            <a:t>Afretamento por tempo (Time Charter)</a:t>
          </a:r>
        </a:p>
      </dsp:txBody>
      <dsp:txXfrm rot="-5400000">
        <a:off x="810556" y="1949701"/>
        <a:ext cx="4010485" cy="6791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A195E9-34A1-4EEA-A61C-F877E094BF9E}">
      <dsp:nvSpPr>
        <dsp:cNvPr id="0" name=""/>
        <dsp:cNvSpPr/>
      </dsp:nvSpPr>
      <dsp:spPr>
        <a:xfrm rot="5400000">
          <a:off x="-222125" y="223760"/>
          <a:ext cx="1480837" cy="1036586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/>
            <a:t>1</a:t>
          </a:r>
        </a:p>
      </dsp:txBody>
      <dsp:txXfrm rot="-5400000">
        <a:off x="1" y="519927"/>
        <a:ext cx="1036586" cy="444251"/>
      </dsp:txXfrm>
    </dsp:sp>
    <dsp:sp modelId="{C531B554-8D37-4F66-BE58-98623B24C37D}">
      <dsp:nvSpPr>
        <dsp:cNvPr id="0" name=""/>
        <dsp:cNvSpPr/>
      </dsp:nvSpPr>
      <dsp:spPr>
        <a:xfrm rot="5400000">
          <a:off x="3916089" y="-2877868"/>
          <a:ext cx="962544" cy="672155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Para o fretador é uma operação financeira sem grandes riscos, já que não terá que buscar mercado para a operação do seu navio e receberá o aluguel antecipadamente e independentemente do uso do navio; </a:t>
          </a:r>
          <a:endParaRPr lang="pt-BR" sz="1500" kern="1200" dirty="0"/>
        </a:p>
      </dsp:txBody>
      <dsp:txXfrm rot="-5400000">
        <a:off x="1036586" y="48623"/>
        <a:ext cx="6674563" cy="868568"/>
      </dsp:txXfrm>
    </dsp:sp>
    <dsp:sp modelId="{4A0CDC38-C5D3-4660-89D1-B0C0EBEAC81C}">
      <dsp:nvSpPr>
        <dsp:cNvPr id="0" name=""/>
        <dsp:cNvSpPr/>
      </dsp:nvSpPr>
      <dsp:spPr>
        <a:xfrm rot="5400000">
          <a:off x="-222125" y="1508949"/>
          <a:ext cx="1480837" cy="1036586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/>
            <a:t>2</a:t>
          </a:r>
        </a:p>
      </dsp:txBody>
      <dsp:txXfrm rot="-5400000">
        <a:off x="1" y="1805116"/>
        <a:ext cx="1036586" cy="444251"/>
      </dsp:txXfrm>
    </dsp:sp>
    <dsp:sp modelId="{E4323A77-00B5-4793-8447-F8BC7B3AEB55}">
      <dsp:nvSpPr>
        <dsp:cNvPr id="0" name=""/>
        <dsp:cNvSpPr/>
      </dsp:nvSpPr>
      <dsp:spPr>
        <a:xfrm rot="5400000">
          <a:off x="3916089" y="-1592679"/>
          <a:ext cx="962544" cy="672155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Para o afretador, a vantagem está em usar o navio para atender seus clientes sem ter que imobilizar capital ou investir na sua compra de um navio.</a:t>
          </a:r>
          <a:endParaRPr lang="pt-BR" sz="1500" b="1" kern="1200" dirty="0"/>
        </a:p>
      </dsp:txBody>
      <dsp:txXfrm rot="-5400000">
        <a:off x="1036586" y="1333812"/>
        <a:ext cx="6674563" cy="868568"/>
      </dsp:txXfrm>
    </dsp:sp>
    <dsp:sp modelId="{0E354547-16E5-439D-BA87-5555F18A27FA}">
      <dsp:nvSpPr>
        <dsp:cNvPr id="0" name=""/>
        <dsp:cNvSpPr/>
      </dsp:nvSpPr>
      <dsp:spPr>
        <a:xfrm rot="5400000">
          <a:off x="-222125" y="2794137"/>
          <a:ext cx="1480837" cy="1036586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1" kern="1200" dirty="0"/>
            <a:t>3</a:t>
          </a:r>
        </a:p>
      </dsp:txBody>
      <dsp:txXfrm rot="-5400000">
        <a:off x="1" y="3090304"/>
        <a:ext cx="1036586" cy="444251"/>
      </dsp:txXfrm>
    </dsp:sp>
    <dsp:sp modelId="{350326CE-83D1-46AE-A7A7-8E206FC0547A}">
      <dsp:nvSpPr>
        <dsp:cNvPr id="0" name=""/>
        <dsp:cNvSpPr/>
      </dsp:nvSpPr>
      <dsp:spPr>
        <a:xfrm rot="5400000">
          <a:off x="3916089" y="-307491"/>
          <a:ext cx="962544" cy="672155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Outra vantagem é que o afretador acaba se tornando um especialista na gestão comercial do navio, tendo muito mais acesso aos clientes e com maior conhecimento do máximo valor a ser explorado com o uso do navio. Assim, o negócio acaba sendo mais lucrativo para todos.</a:t>
          </a:r>
          <a:endParaRPr lang="pt-BR" sz="1500" b="1" kern="1200" dirty="0"/>
        </a:p>
      </dsp:txBody>
      <dsp:txXfrm rot="-5400000">
        <a:off x="1036586" y="2619000"/>
        <a:ext cx="6674563" cy="868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9869B-10FE-4387-B538-2503583BEA94}">
      <dsp:nvSpPr>
        <dsp:cNvPr id="0" name=""/>
        <dsp:cNvSpPr/>
      </dsp:nvSpPr>
      <dsp:spPr>
        <a:xfrm rot="5400000">
          <a:off x="-272035" y="273944"/>
          <a:ext cx="1813572" cy="1269500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b="1" kern="1200" dirty="0"/>
            <a:t>1</a:t>
          </a:r>
        </a:p>
      </dsp:txBody>
      <dsp:txXfrm rot="-5400000">
        <a:off x="1" y="636658"/>
        <a:ext cx="1269500" cy="544072"/>
      </dsp:txXfrm>
    </dsp:sp>
    <dsp:sp modelId="{61C7E290-4AA1-47E0-A67E-573C27AD3745}">
      <dsp:nvSpPr>
        <dsp:cNvPr id="0" name=""/>
        <dsp:cNvSpPr/>
      </dsp:nvSpPr>
      <dsp:spPr>
        <a:xfrm rot="5400000">
          <a:off x="3174309" y="-1902899"/>
          <a:ext cx="1178822" cy="4988439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Para o fretador, a exploração comercial do navio poderia ser muito mais rentável do que seu simples aluguel. Ou seja, o proprietário do navio permite que um terceiro tenha ganhos na exploração comercial do seu navio; </a:t>
          </a:r>
          <a:endParaRPr lang="pt-BR" sz="1400" b="1" kern="1200" dirty="0"/>
        </a:p>
      </dsp:txBody>
      <dsp:txXfrm rot="-5400000">
        <a:off x="1269501" y="59454"/>
        <a:ext cx="4930894" cy="1063732"/>
      </dsp:txXfrm>
    </dsp:sp>
    <dsp:sp modelId="{2AE554B3-3AF6-46D1-903A-613BFF1BF283}">
      <dsp:nvSpPr>
        <dsp:cNvPr id="0" name=""/>
        <dsp:cNvSpPr/>
      </dsp:nvSpPr>
      <dsp:spPr>
        <a:xfrm rot="5400000">
          <a:off x="-272035" y="1796659"/>
          <a:ext cx="1813572" cy="1269500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b="1" kern="1200" dirty="0"/>
            <a:t>2</a:t>
          </a:r>
        </a:p>
      </dsp:txBody>
      <dsp:txXfrm rot="-5400000">
        <a:off x="1" y="2159373"/>
        <a:ext cx="1269500" cy="544072"/>
      </dsp:txXfrm>
    </dsp:sp>
    <dsp:sp modelId="{26D49B08-BDFC-4057-A255-B49A65CB6FBF}">
      <dsp:nvSpPr>
        <dsp:cNvPr id="0" name=""/>
        <dsp:cNvSpPr/>
      </dsp:nvSpPr>
      <dsp:spPr>
        <a:xfrm rot="5400000">
          <a:off x="3174309" y="-380184"/>
          <a:ext cx="1178822" cy="4988439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Para o afretador, a desvantagens está nos riscos do negócio de transporte marítimo. Como esses riscos não são compartilhados pelo fretador, o afretador deverá arcar com todos os prejuízos que uma queda na demanda mundial de transporte poderá acarretar.</a:t>
          </a:r>
          <a:endParaRPr lang="pt-BR" sz="1400" b="1" kern="1200" dirty="0"/>
        </a:p>
      </dsp:txBody>
      <dsp:txXfrm rot="-5400000">
        <a:off x="1269501" y="1582169"/>
        <a:ext cx="4930894" cy="1063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87985-066A-48DF-ABF8-B098D71DFC1F}" type="datetimeFigureOut">
              <a:rPr lang="pt-BR" smtClean="0"/>
              <a:pPr/>
              <a:t>20/04/2020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7D706-3CA1-4547-B097-2C91236F0C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Afretamento Marítimo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5000636"/>
            <a:ext cx="6400800" cy="1071570"/>
          </a:xfrm>
        </p:spPr>
        <p:txBody>
          <a:bodyPr>
            <a:normAutofit fontScale="70000" lnSpcReduction="20000"/>
          </a:bodyPr>
          <a:lstStyle/>
          <a:p>
            <a:r>
              <a:rPr lang="pt-BR" i="1" dirty="0"/>
              <a:t>Aula 2</a:t>
            </a:r>
          </a:p>
          <a:p>
            <a:r>
              <a:rPr lang="pt-BR" dirty="0"/>
              <a:t>Afretamento a casco nu (</a:t>
            </a:r>
            <a:r>
              <a:rPr lang="pt-BR" i="1" dirty="0"/>
              <a:t>Bare Boat Charter</a:t>
            </a:r>
            <a:r>
              <a:rPr lang="pt-BR" dirty="0"/>
              <a:t> ou C</a:t>
            </a:r>
            <a:r>
              <a:rPr lang="pt-BR" i="1" dirty="0"/>
              <a:t>harter </a:t>
            </a:r>
            <a:r>
              <a:rPr lang="pt-BR" i="1" dirty="0" err="1"/>
              <a:t>by</a:t>
            </a:r>
            <a:r>
              <a:rPr lang="pt-BR" i="1" dirty="0"/>
              <a:t> </a:t>
            </a:r>
            <a:r>
              <a:rPr lang="pt-BR" i="1" dirty="0" err="1"/>
              <a:t>Demisse</a:t>
            </a:r>
            <a:r>
              <a:rPr lang="pt-BR" i="1" dirty="0"/>
              <a:t>)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000" dirty="0"/>
              <a:t>Tipo de afretamento mais utilizados no mercado</a:t>
            </a:r>
          </a:p>
        </p:txBody>
      </p:sp>
      <p:graphicFrame>
        <p:nvGraphicFramePr>
          <p:cNvPr id="5" name="Diagrama 4"/>
          <p:cNvGraphicFramePr/>
          <p:nvPr/>
        </p:nvGraphicFramePr>
        <p:xfrm>
          <a:off x="2285984" y="1857364"/>
          <a:ext cx="4857784" cy="3071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pt-BR" sz="3000" dirty="0">
                <a:solidFill>
                  <a:schemeClr val="tx1"/>
                </a:solidFill>
                <a:latin typeface="+mj-lt"/>
              </a:rPr>
              <a:t>Tipos de Afretamento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57560"/>
          </a:xfrm>
        </p:spPr>
        <p:txBody>
          <a:bodyPr>
            <a:normAutofit fontScale="70000" lnSpcReduction="20000"/>
          </a:bodyPr>
          <a:lstStyle/>
          <a:p>
            <a:pPr lvl="1">
              <a:buFont typeface="Wingdings" pitchFamily="2" charset="2"/>
              <a:buChar char="§"/>
            </a:pPr>
            <a:r>
              <a:rPr lang="pt-BR" sz="2900" b="1" dirty="0"/>
              <a:t>Afretamento a casco nu (</a:t>
            </a:r>
            <a:r>
              <a:rPr lang="pt-BR" sz="2900" b="1" i="1" dirty="0"/>
              <a:t>Bare Boat Charter</a:t>
            </a:r>
            <a:r>
              <a:rPr lang="pt-BR" sz="2900" b="1" dirty="0"/>
              <a:t> ou C</a:t>
            </a:r>
            <a:r>
              <a:rPr lang="pt-BR" sz="2900" b="1" i="1" dirty="0"/>
              <a:t>harter by Demisse</a:t>
            </a:r>
            <a:r>
              <a:rPr lang="pt-BR" sz="2900" b="1" dirty="0"/>
              <a:t>)</a:t>
            </a:r>
          </a:p>
          <a:p>
            <a:pPr lvl="1"/>
            <a:endParaRPr lang="pt-BR" sz="2000" dirty="0"/>
          </a:p>
          <a:p>
            <a:r>
              <a:rPr lang="pt-BR" dirty="0"/>
              <a:t>Caso em que o afretador toma para si a responsabilidade da armação. O fretador cede, portanto, o navio pura e simplesmente, sem equipagem (tripulação), combustível, provisões, etc.</a:t>
            </a:r>
          </a:p>
          <a:p>
            <a:endParaRPr lang="pt-BR" b="1" dirty="0"/>
          </a:p>
          <a:p>
            <a:r>
              <a:rPr lang="pt-BR" dirty="0"/>
              <a:t>A relação comercial aqui é, em geral, entre o proprietário do navio e o armador. O proprietário, na maioria dos casos, nem chega a retirar seu navio do estaleiro, deixando tudo por conta do armador que, com a conclusão da construção do navio, já começa a operá-lo.</a:t>
            </a:r>
            <a:endParaRPr lang="pt-BR" b="1" dirty="0"/>
          </a:p>
          <a:p>
            <a:endParaRPr lang="pt-BR" dirty="0"/>
          </a:p>
        </p:txBody>
      </p:sp>
      <p:pic>
        <p:nvPicPr>
          <p:cNvPr id="6146" name="Picture 2" descr="http://www.syndarma.org.br/images/ilustra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6182" y="4572008"/>
            <a:ext cx="1714500" cy="20431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000" dirty="0">
                <a:solidFill>
                  <a:schemeClr val="tx1"/>
                </a:solidFill>
                <a:latin typeface="+mj-lt"/>
              </a:rPr>
              <a:t>Tipos de Afretamento</a:t>
            </a:r>
            <a:endParaRPr lang="pt-BR" sz="300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757493"/>
          </a:xfrm>
        </p:spPr>
        <p:txBody>
          <a:bodyPr>
            <a:normAutofit fontScale="70000" lnSpcReduction="20000"/>
          </a:bodyPr>
          <a:lstStyle/>
          <a:p>
            <a:pPr marL="1200150" lvl="3" indent="-342900">
              <a:buFont typeface="Wingdings" pitchFamily="2" charset="2"/>
              <a:buChar char="§"/>
            </a:pPr>
            <a:r>
              <a:rPr lang="pt-BR" sz="2900" b="1" dirty="0"/>
              <a:t>Afretamento a casco nu (</a:t>
            </a:r>
            <a:r>
              <a:rPr lang="pt-BR" sz="2900" b="1" i="1" dirty="0"/>
              <a:t>Bare Boat Charter</a:t>
            </a:r>
            <a:r>
              <a:rPr lang="pt-BR" sz="2900" b="1" dirty="0"/>
              <a:t> ou C</a:t>
            </a:r>
            <a:r>
              <a:rPr lang="pt-BR" sz="2900" b="1" i="1" dirty="0"/>
              <a:t>harter by Demisse</a:t>
            </a:r>
            <a:r>
              <a:rPr lang="pt-BR" sz="2900" b="1" dirty="0"/>
              <a:t>)</a:t>
            </a:r>
          </a:p>
          <a:p>
            <a:endParaRPr lang="pt-BR" dirty="0"/>
          </a:p>
          <a:p>
            <a:r>
              <a:rPr lang="pt-BR" dirty="0"/>
              <a:t>No caso do afretamento a casco nu o afretador paga todos os custos operacionais do navio, além de cuidar de toda a gestão do navio, inclusive a nomeação da tripulação e do comandante.</a:t>
            </a:r>
            <a:endParaRPr lang="pt-BR" b="1" dirty="0"/>
          </a:p>
          <a:p>
            <a:r>
              <a:rPr lang="pt-BR" dirty="0"/>
              <a:t>Nesse tipo de afretamento, o afretador também é responsável por tomar todas as providencias para a navegação, como equipar o navio e providenciar alimento para a tripulação.</a:t>
            </a:r>
            <a:endParaRPr lang="pt-BR" b="1" dirty="0"/>
          </a:p>
          <a:p>
            <a:endParaRPr lang="pt-BR" dirty="0"/>
          </a:p>
        </p:txBody>
      </p:sp>
      <p:pic>
        <p:nvPicPr>
          <p:cNvPr id="5122" name="Picture 2" descr="http://portalmaritimo.files.wordpress.com/2011/04/ship-broker.jpg?w=5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802" y="4714884"/>
            <a:ext cx="3476616" cy="16859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000" dirty="0">
                <a:solidFill>
                  <a:schemeClr val="tx1"/>
                </a:solidFill>
                <a:latin typeface="+mj-lt"/>
              </a:rPr>
              <a:t>Tipos de Afretamento</a:t>
            </a:r>
            <a:endParaRPr lang="pt-BR" sz="3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3500462"/>
          </a:xfrm>
        </p:spPr>
        <p:txBody>
          <a:bodyPr>
            <a:normAutofit fontScale="62500" lnSpcReduction="20000"/>
          </a:bodyPr>
          <a:lstStyle/>
          <a:p>
            <a:pPr marL="800100" lvl="4" indent="-342900">
              <a:buFont typeface="Wingdings" pitchFamily="2" charset="2"/>
              <a:buChar char="§"/>
            </a:pPr>
            <a:r>
              <a:rPr lang="pt-BR" sz="3600" b="1" dirty="0"/>
              <a:t>Afretamento a casco nu (</a:t>
            </a:r>
            <a:r>
              <a:rPr lang="pt-BR" sz="3600" b="1" i="1" dirty="0"/>
              <a:t>Bare Boat Charter</a:t>
            </a:r>
            <a:r>
              <a:rPr lang="pt-BR" sz="3600" b="1" dirty="0"/>
              <a:t> ou C</a:t>
            </a:r>
            <a:r>
              <a:rPr lang="pt-BR" sz="3600" b="1" i="1" dirty="0"/>
              <a:t>harter by Demisse</a:t>
            </a:r>
            <a:r>
              <a:rPr lang="pt-BR" sz="3600" b="1" dirty="0"/>
              <a:t>)</a:t>
            </a:r>
          </a:p>
          <a:p>
            <a:endParaRPr lang="pt-BR" sz="3600" dirty="0"/>
          </a:p>
          <a:p>
            <a:r>
              <a:rPr lang="pt-BR" sz="3300" dirty="0"/>
              <a:t>O afretador fica livre para utilizar a embarcação em qualquer rota, desde que não existam ressalvas no contrato impedindo. Ou seja, o navio passa a ser de uso exclusivo do afretador, podendo usá-lo na forma como melhor entender.</a:t>
            </a:r>
          </a:p>
          <a:p>
            <a:endParaRPr lang="pt-BR" sz="3300" b="1" dirty="0"/>
          </a:p>
          <a:p>
            <a:r>
              <a:rPr lang="pt-BR" sz="3300" dirty="0"/>
              <a:t>Como o contrato de afretamento não tem relação com o tipo de carga que será transportada, os valores são em geral relacionados ao porte do navio (TPB) e são pagos antecipadamente, pois o proprietário cobra mesmo que o navio não esteja sendo utilizado.</a:t>
            </a:r>
            <a:endParaRPr lang="pt-BR" sz="3300" b="1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000" dirty="0">
                <a:solidFill>
                  <a:schemeClr val="tx1"/>
                </a:solidFill>
                <a:latin typeface="+mj-lt"/>
              </a:rPr>
              <a:t>Tipos de Afretamento</a:t>
            </a:r>
            <a:endParaRPr lang="pt-BR" sz="3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028829"/>
            <a:ext cx="8229600" cy="2757493"/>
          </a:xfrm>
        </p:spPr>
        <p:txBody>
          <a:bodyPr>
            <a:normAutofit fontScale="62500" lnSpcReduction="20000"/>
          </a:bodyPr>
          <a:lstStyle/>
          <a:p>
            <a:pPr marL="800100" lvl="5" indent="-342900">
              <a:buFont typeface="Wingdings" pitchFamily="2" charset="2"/>
              <a:buChar char="§"/>
            </a:pPr>
            <a:r>
              <a:rPr lang="pt-BR" sz="3600" b="1" dirty="0"/>
              <a:t>Afretamento a casco nu (</a:t>
            </a:r>
            <a:r>
              <a:rPr lang="pt-BR" sz="3600" b="1" i="1" dirty="0"/>
              <a:t>Bare Boat Charter</a:t>
            </a:r>
            <a:r>
              <a:rPr lang="pt-BR" sz="3600" b="1" dirty="0"/>
              <a:t> ou C</a:t>
            </a:r>
            <a:r>
              <a:rPr lang="pt-BR" sz="3600" b="1" i="1" dirty="0"/>
              <a:t>harter by Demisse</a:t>
            </a:r>
            <a:r>
              <a:rPr lang="pt-BR" sz="3600" b="1" dirty="0"/>
              <a:t>)</a:t>
            </a:r>
            <a:endParaRPr lang="pt-BR" dirty="0"/>
          </a:p>
          <a:p>
            <a:endParaRPr lang="pt-BR" dirty="0"/>
          </a:p>
          <a:p>
            <a:r>
              <a:rPr lang="pt-BR" dirty="0"/>
              <a:t>Poderíamos comparar ao aluguel de um apartamento sem mobília, em que o inquilino deverá mobiliá-lo e torná-lo adequado para uso. </a:t>
            </a:r>
          </a:p>
          <a:p>
            <a:endParaRPr lang="pt-BR" dirty="0"/>
          </a:p>
          <a:p>
            <a:r>
              <a:rPr lang="pt-BR" dirty="0"/>
              <a:t>Quando alugamos um apartamento, o proprietário não quer saber se estamos ou não viajando de férias, e teremos que pagar o aluguel de qualquer forma, usando ou não o apartamento.</a:t>
            </a:r>
            <a:endParaRPr lang="pt-BR" b="1" dirty="0"/>
          </a:p>
          <a:p>
            <a:endParaRPr lang="pt-BR" dirty="0"/>
          </a:p>
        </p:txBody>
      </p:sp>
      <p:pic>
        <p:nvPicPr>
          <p:cNvPr id="1026" name="Picture 2" descr="ICONE-EXEMP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6182" y="5072074"/>
            <a:ext cx="1357322" cy="11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000" b="1" dirty="0"/>
              <a:t>Vantagens</a:t>
            </a:r>
          </a:p>
        </p:txBody>
      </p:sp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</p:nvPr>
        </p:nvGraphicFramePr>
        <p:xfrm>
          <a:off x="785786" y="1946283"/>
          <a:ext cx="7758138" cy="4054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tângulo 6"/>
          <p:cNvSpPr/>
          <p:nvPr/>
        </p:nvSpPr>
        <p:spPr>
          <a:xfrm>
            <a:off x="714348" y="1202280"/>
            <a:ext cx="7786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As vantagens</a:t>
            </a:r>
            <a:r>
              <a:rPr lang="pt-BR" dirty="0"/>
              <a:t> desse tipo de afretamento, de acordo com Vieira (2003), são: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000" dirty="0"/>
              <a:t>Desvantagens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</p:nvPr>
        </p:nvGraphicFramePr>
        <p:xfrm>
          <a:off x="1671646" y="2089159"/>
          <a:ext cx="6257940" cy="3340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643042" y="1357298"/>
            <a:ext cx="25827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As desvantagens</a:t>
            </a: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 são:</a:t>
            </a:r>
            <a:endParaRPr kumimoji="0" 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000" dirty="0"/>
              <a:t>Conclusão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pt-BR" sz="2200" dirty="0"/>
              <a:t>Nesta aula vimos:</a:t>
            </a:r>
          </a:p>
          <a:p>
            <a:pPr>
              <a:buFont typeface="Wingdings" pitchFamily="2" charset="2"/>
              <a:buChar char="§"/>
            </a:pPr>
            <a:endParaRPr lang="pt-BR" sz="2200" dirty="0"/>
          </a:p>
          <a:p>
            <a:pPr>
              <a:buNone/>
            </a:pPr>
            <a:r>
              <a:rPr lang="pt-BR" sz="2200"/>
              <a:t>- Afretamento </a:t>
            </a:r>
            <a:r>
              <a:rPr lang="pt-BR" sz="2200" dirty="0"/>
              <a:t>a casco nu (</a:t>
            </a:r>
            <a:r>
              <a:rPr lang="pt-BR" sz="2200" i="1" dirty="0"/>
              <a:t>Bare Boat Charter</a:t>
            </a:r>
            <a:r>
              <a:rPr lang="pt-BR" sz="2200" dirty="0"/>
              <a:t> ou C</a:t>
            </a:r>
            <a:r>
              <a:rPr lang="pt-BR" sz="2200" i="1" dirty="0"/>
              <a:t>harter </a:t>
            </a:r>
            <a:r>
              <a:rPr lang="pt-BR" sz="2200" i="1" dirty="0" err="1"/>
              <a:t>by</a:t>
            </a:r>
            <a:r>
              <a:rPr lang="pt-BR" sz="2200" i="1" dirty="0"/>
              <a:t> </a:t>
            </a:r>
            <a:r>
              <a:rPr lang="pt-BR" sz="2200" i="1" dirty="0" err="1"/>
              <a:t>Demisse</a:t>
            </a:r>
            <a:r>
              <a:rPr lang="pt-BR" sz="2200" i="1" dirty="0"/>
              <a:t>)</a:t>
            </a:r>
            <a:endParaRPr lang="pt-BR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ívico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658</Words>
  <Application>Microsoft Office PowerPoint</Application>
  <PresentationFormat>Apresentação na tela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Tema do Office</vt:lpstr>
      <vt:lpstr>Afretamento Marítimo</vt:lpstr>
      <vt:lpstr>Tipo de afretamento mais utilizados no mercado</vt:lpstr>
      <vt:lpstr>Tipos de Afretamento</vt:lpstr>
      <vt:lpstr>Tipos de Afretamento</vt:lpstr>
      <vt:lpstr>Tipos de Afretamento</vt:lpstr>
      <vt:lpstr>Tipos de Afretamento</vt:lpstr>
      <vt:lpstr>Vantagens</vt:lpstr>
      <vt:lpstr>Desvantagens</vt:lpstr>
      <vt:lpstr>Conclusão</vt:lpstr>
    </vt:vector>
  </TitlesOfParts>
  <Company>Unimes Virtual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Afretamento Marítimo</dc:title>
  <dc:creator>monitoramayara</dc:creator>
  <cp:lastModifiedBy>Dino Grejo</cp:lastModifiedBy>
  <cp:revision>12</cp:revision>
  <dcterms:created xsi:type="dcterms:W3CDTF">2012-07-31T15:47:38Z</dcterms:created>
  <dcterms:modified xsi:type="dcterms:W3CDTF">2020-04-20T21:05:39Z</dcterms:modified>
</cp:coreProperties>
</file>